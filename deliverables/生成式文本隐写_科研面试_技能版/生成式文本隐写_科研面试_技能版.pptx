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</a:t>
            </a:r>
          </a:p>
          <a:p/>
          <a:p>
            <a:r>
              <a:t>各位老师好，我汇报的项目是“大语言模型生成式文本隐写的可靠编码与跨精度回放研究”。一句话概括：我复现、比较并扩展了 SparSamp 与 RRC 两条生成式文本隐写路线，重点解决两个问题——接收端能否可靠恢复消息，以及模型在不同数值精度下能否稳定重放同一条 token 序列。目前是 working paper 与项目阶段成果。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研究背景与动机</a:t>
            </a:r>
          </a:p>
          <a:p/>
          <a:p>
            <a:r>
              <a:t>大语言模型每一步都会给候选 token 分配概率，生成式文本隐写就利用这张概率表，在正常生成中嵌入秘密比特；持有相同密钥、模型和配置的接收端，可以沿同一轨迹恢复它。它值得研究，是因为“看起来正常”还不够：随机生成对数值精度非常敏感，一个 token 的分叉会沿自回归轨迹持续放大。我们的主实验中，不做修正时 FP16 到 BF16 只有 10/60 条轨迹能精确重放，这直接引出研究问题。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研究问题与证据边界</a:t>
            </a:r>
          </a:p>
          <a:p/>
          <a:p>
            <a:r>
              <a:t>评价隐写系统不能只看一个指标：自然性、容量、可恢复性、可检测性互相牵制；容量高可能伤害文本质量，而即便每一步 token 分布都匹配，也不自动等于变长全文分布匹配——我们构造过精确反例，两种过程的总变差距离可达二分之一。因此本项目把研究问题限定为：公开的整数概率合同配合稀疏的目标特定修正，能否实现精确回放。这里先划清边界：本项目不宣称零 KL、完全不可检测、通用安全或跨硬件确定性。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技术路线总览</a:t>
            </a:r>
          </a:p>
          <a:p/>
          <a:p>
            <a:r>
              <a:t>项目复现、比较两条路线。路线 A 是 SparSamp，来自 USENIX Security 2025：我们用未修改的官方 artifact 做兼容复现，105 个 token、576 bit、5.486 bit/token 精确解码；12 个配置共 1,200 条实验，1,193 条完成，无歧义子集 846/846 精确解码，16 项容量对比误差都在 5% 以内。路线 B 是 ACL 2026 的 RRC，本项目以它为可靠性审计对象。两条路线并列，我不把它们说成融合算法。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SparSamp 原理与复现</a:t>
            </a:r>
          </a:p>
          <a:p/>
          <a:p>
            <a:r>
              <a:t>SparSamp 可以这样理解：模型给出一张候选词概率表，双方用共享密钥生成一致的受控偏移，消息块决定稀疏区间内的落点；当区间收缩到单点，这一块比特就确定了，接收端按反向规则恢复。它不是在概率表上强行指定一个词，而是做可回放的受控采样。项目里这条路线承担复现与对比角色——我们也尝试过自适应 block 的 FH 变体，但在有限预算下成功率反而下降，作为负面结果保留，不作为推荐方案。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RRC 原理与关键审计发现</a:t>
            </a:r>
          </a:p>
          <a:p/>
          <a:p>
            <a:r>
              <a:t>RRC 把 l 比特消息看成初始区间 [0, 2^l) 内的一个秘密点：每步用共享偏移旋转，再按 token 概率分割区间，选择包含秘密点的子区间。审计停止逻辑时我们发现一个跨边界问题：论文局部条件只看“中点是否足够接近秘密点”，但反向恢复是模区间映射，存在切点；跨过切点后，线性距离不能保持。我们给出精确两步反例，条件满足却恢复出 5 而不是 3，且失败区域有 1/1024 的正测度。表述限定为：在本项目采用的 Algorithm 3/4 形式化下，该条件不是精确恢复的充分条件。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方法改进一：Verified-RRC 与 Fixed-Length</a:t>
            </a:r>
          </a:p>
          <a:p/>
          <a:p>
            <a:r>
              <a:t>基于这个发现，我实现了 Verified-RRC：局部条件满足时不立刻停止，而是完整模拟接收端逆重放，确认能恢复原消息才输出。R012 的 500 个 Mock 样本全部精确恢复，原局部规则只有 87% 到 96%，验证平均只多花 0.04 到 0.15 个 token。为了防止完成时刻泄露在文本长度里，固定长度版本把消息和 HMAC 认证标签一起嵌入，再采样到公开长度 N；Mock 下 400/400 恢复、错密钥零误接受。需要强调，这不是任意模型必然有限终止的证明，小样本也不构成不可检测结论。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方法改进二：BDS 跨精度回放</a:t>
            </a:r>
          </a:p>
          <a:p/>
          <a:p>
            <a:r>
              <a:t>数学正确性还不够，因为发送端和接收端可能运行在 FP16 与 BF16 上，微小数值差异会让决策分叉。BDS 的做法是：先立一个公开的整数概率合同，再在声明的不确定范围内枚举所有可行的决策；某一步无论怎么扰动都选同一个 token，就省略记录，否则记录稀疏修正。R059 用两个独立 seed 做确认，合计 40/40 精确回放、0 次 false-safe，证书负载约为完整轨迹的 54.6%。但结论范围是 Qwen2.5-1.5B、RTX 3060 Laptop 和指定软件栈，不等于跨硬件保证。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实验结果汇总</a:t>
            </a:r>
          </a:p>
          <a:p/>
          <a:p>
            <a:r>
              <a:t>把关键结果放在一起看。第一，校正后 60/60、未校正 10/60，平均修正率 2.16%，置信区间 1.80 到 2.53。第二，反向精度方向 BF16 到 FP16 也达到 20/20。第三，在统一的包口径下，稀疏证书 1,148 字节，只有完整轨迹的 24.76%，比 4-token 块修复的 1,408 字节更小。需要说明，payload-only、引用式、自包含 JSON 三种口径是不同估计量，不能混用。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局限、未来与总结</a:t>
            </a:r>
          </a:p>
          <a:p/>
          <a:p>
            <a:r>
              <a:t>最后总结三点：第一，我审计了 RRC 局部停止条件的跨边界风险，并实现 Verified-RRC 与固定长度认证；第二，跨精度回放从未校正的 10/60 提升到校正后 60/60；第三，BDS 在独立 seed 上 40/40、零 false-safe。局限很明确：单模型、单 GPU，没有真人盲评，没有跨硬件验证，也没有任意模型必然终止的证明。下一步我会扩大模型与硬件矩阵，补足固定长度失败率区间、整数频数合同和盲评检测实验。现有成果都是阶段性、条件化的证据，不宣称已发表或通用安全。我的汇报到此结束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1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DD7F2"/>
                </a:solidFill>
                <a:latin typeface="Microsoft YaHei"/>
                <a:ea typeface="Microsoft YaHei"/>
              </a:rPr>
              <a:t>科研面试汇报 · 保研面试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977639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</a:rPr>
              <a:t>大语言模型</a:t>
            </a:r>
          </a:p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</a:rPr>
              <a:t>生成式文本隐写的</a:t>
            </a:r>
          </a:p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</a:rPr>
              <a:t>可靠编码与</a:t>
            </a:r>
          </a:p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</a:rPr>
              <a:t>跨精度回放研究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794760"/>
            <a:ext cx="1097280" cy="27432"/>
          </a:xfrm>
          <a:prstGeom prst="rect">
            <a:avLst/>
          </a:prstGeom>
          <a:solidFill>
            <a:srgbClr val="9AC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393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5E7F8"/>
                </a:solidFill>
                <a:latin typeface="Microsoft YaHei"/>
                <a:ea typeface="Microsoft YaHei"/>
              </a:rPr>
              <a:t>复现 · 比较 · 扩展 SparSamp 与 RRC 两条路线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3931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姓名：____________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学校 / 专业：____________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时长：8 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325880"/>
            <a:ext cx="6400800" cy="3977639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7780">
            <a:solidFill>
              <a:srgbClr val="0B5C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581912"/>
            <a:ext cx="6126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F8F"/>
                </a:solidFill>
                <a:latin typeface="Microsoft YaHei"/>
                <a:ea typeface="Microsoft YaHei"/>
              </a:rPr>
              <a:t>插图预留位（待生图后替换）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57400"/>
            <a:ext cx="612648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A6472"/>
                </a:solidFill>
                <a:latin typeface="Microsoft YaHei"/>
                <a:ea typeface="Microsoft YaHei"/>
              </a:rPr>
              <a:t>fig_cover_stego_channel.png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4910328"/>
            <a:ext cx="384048" cy="139903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4536" y="3977640"/>
            <a:ext cx="384048" cy="2331720"/>
          </a:xfrm>
          <a:prstGeom prst="roundRect">
            <a:avLst>
              <a:gd name="adj" fmla="val 8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5345582"/>
            <a:ext cx="384048" cy="963777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7" y="4568342"/>
            <a:ext cx="384048" cy="1741017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7575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24" y="5656478"/>
            <a:ext cx="384048" cy="652881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5143500"/>
            <a:ext cx="384048" cy="1165860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3768" y="6336792"/>
            <a:ext cx="53035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A6472"/>
                </a:solidFill>
                <a:latin typeface="Microsoft YaHei"/>
                <a:ea typeface="Microsoft YaHei"/>
              </a:rPr>
              <a:t>t6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3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9903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56831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1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0296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0296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59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07223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0C8F88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3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90688" y="5394960"/>
            <a:ext cx="219456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0C8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0688" y="5408676"/>
            <a:ext cx="219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C8F88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5989320"/>
            <a:ext cx="4572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5121B"/>
                </a:solidFill>
                <a:latin typeface="Microsoft YaHei"/>
                <a:ea typeface="Microsoft YaHei"/>
              </a:rPr>
              <a:t>状态：working paper / 项目阶段成果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依据：README.md、RESEARCH_BRIEF.md。右侧为插图预留位与原生示意（非实验数据）。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2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01 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为什么研究大语言模型文本隐写？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结论：可靠恢复与数值回放一致性，是生成式文本隐写落地的前提。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55648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55648"/>
            <a:ext cx="50292" cy="1463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874519"/>
            <a:ext cx="2258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普通生成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212848"/>
            <a:ext cx="22585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每步输出 next-token 概率分布，据此采样。</a:t>
            </a:r>
          </a:p>
        </p:txBody>
      </p:sp>
      <p:sp>
        <p:nvSpPr>
          <p:cNvPr id="32" name="Chevron 31"/>
          <p:cNvSpPr/>
          <p:nvPr/>
        </p:nvSpPr>
        <p:spPr>
          <a:xfrm>
            <a:off x="3200400" y="2331720"/>
            <a:ext cx="411480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03320" y="1755648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03320" y="1755648"/>
            <a:ext cx="50292" cy="14630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86200" y="1874519"/>
            <a:ext cx="22585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8F88"/>
                </a:solidFill>
                <a:latin typeface="Microsoft YaHei"/>
                <a:ea typeface="Microsoft YaHei"/>
              </a:rPr>
              <a:t>隐写编码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2212848"/>
            <a:ext cx="22585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共享密钥把秘密比特映射到概率空间。</a:t>
            </a:r>
          </a:p>
        </p:txBody>
      </p:sp>
      <p:sp>
        <p:nvSpPr>
          <p:cNvPr id="37" name="Chevron 36"/>
          <p:cNvSpPr/>
          <p:nvPr/>
        </p:nvSpPr>
        <p:spPr>
          <a:xfrm>
            <a:off x="6400800" y="2331720"/>
            <a:ext cx="411480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03720" y="1755648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03720" y="1755648"/>
            <a:ext cx="50292" cy="146304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6600" y="1874519"/>
            <a:ext cx="20299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5CAD"/>
                </a:solidFill>
                <a:latin typeface="Microsoft YaHei"/>
                <a:ea typeface="Microsoft YaHei"/>
              </a:rPr>
              <a:t>接收端回放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2212848"/>
            <a:ext cx="202996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相同密钥/模型/配置反向恢复消息。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1755648"/>
            <a:ext cx="2194560" cy="146304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7780">
            <a:solidFill>
              <a:srgbClr val="0B5C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46920" y="2011680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F8F"/>
                </a:solidFill>
                <a:latin typeface="Microsoft YaHei"/>
                <a:ea typeface="Microsoft YaHei"/>
              </a:rPr>
              <a:t>插图预留位（待生图后替换）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87168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A6472"/>
                </a:solidFill>
                <a:latin typeface="Microsoft YaHei"/>
                <a:ea typeface="Microsoft YaHei"/>
              </a:rPr>
              <a:t>fig_stego_channel.png</a:t>
            </a:r>
          </a:p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A6472"/>
                </a:solidFill>
                <a:latin typeface="Microsoft YaHei"/>
                <a:ea typeface="Microsoft YaHei"/>
              </a:rPr>
              <a:t>（可复用封面图）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42900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3429000"/>
            <a:ext cx="50292" cy="1143000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3547872"/>
            <a:ext cx="52303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5121B"/>
                </a:solidFill>
                <a:latin typeface="Microsoft YaHei"/>
                <a:ea typeface="Microsoft YaHei"/>
              </a:rPr>
              <a:t>一个 token 的分叉会被放大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886200"/>
            <a:ext cx="523036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FP16 与 BF16 的微小 logit 差异可能改变采样决策，并沿自回归轨迹持续传播。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42900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3429000"/>
            <a:ext cx="50292" cy="114300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547872"/>
            <a:ext cx="50017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实证引子（R044）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3886200"/>
            <a:ext cx="500176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FP16→BF16 不做修正：60 条轨迹仅 10 条精确重放（16.7%）。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846320"/>
            <a:ext cx="111831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11111"/>
                </a:solidFill>
                <a:latin typeface="Microsoft YaHei"/>
                <a:ea typeface="Microsoft YaHei"/>
              </a:rPr>
              <a:t>研究重点：自然性 · 容量 · 可恢复性 · 可检测性 · 数值稳定性（后两者为本项目重点）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依据：README.md；docs/reproducibility/R044_ANALYSIS.md。插图区为预留位（待生图）。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3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02 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研究问题与证据边界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研究问题：公开整数概率合同 + 稀疏目标特定修正，能否实现精确回放？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830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83080"/>
            <a:ext cx="50292" cy="137160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901952"/>
            <a:ext cx="5047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自然性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240280"/>
            <a:ext cx="50474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文本应像正常生成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7830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1783080"/>
            <a:ext cx="50292" cy="137160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901952"/>
            <a:ext cx="5047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8781F"/>
                </a:solidFill>
                <a:latin typeface="Microsoft YaHei"/>
                <a:ea typeface="Microsoft YaHei"/>
              </a:rPr>
              <a:t>容量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240280"/>
            <a:ext cx="50474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每个 token 承载多少信息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7947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794760"/>
            <a:ext cx="50292" cy="137160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913632"/>
            <a:ext cx="5047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8F88"/>
                </a:solidFill>
                <a:latin typeface="Microsoft YaHei"/>
                <a:ea typeface="Microsoft YaHei"/>
              </a:rPr>
              <a:t>可恢复性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251960"/>
            <a:ext cx="50474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接收端能否无误解码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7947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794760"/>
            <a:ext cx="50292" cy="1371600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913632"/>
            <a:ext cx="5047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5121B"/>
                </a:solidFill>
                <a:latin typeface="Microsoft YaHei"/>
                <a:ea typeface="Microsoft YaHei"/>
              </a:rPr>
              <a:t>可检测性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504748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观察者能否区分 stego 与 cover</a:t>
            </a:r>
          </a:p>
        </p:txBody>
      </p:sp>
      <p:sp>
        <p:nvSpPr>
          <p:cNvPr id="44" name="Oval 43"/>
          <p:cNvSpPr/>
          <p:nvPr/>
        </p:nvSpPr>
        <p:spPr>
          <a:xfrm>
            <a:off x="4983480" y="2697480"/>
            <a:ext cx="2240280" cy="1645920"/>
          </a:xfrm>
          <a:prstGeom prst="ellipse">
            <a:avLst/>
          </a:prstGeom>
          <a:solidFill>
            <a:srgbClr val="EAF2FF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2834640"/>
            <a:ext cx="1965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3F8F"/>
                </a:solidFill>
                <a:latin typeface="Microsoft YaHei"/>
                <a:ea typeface="Microsoft YaHei"/>
              </a:rPr>
              <a:t>项目聚焦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3F8F"/>
                </a:solidFill>
                <a:latin typeface="Microsoft YaHei"/>
                <a:ea typeface="Microsoft YaHei"/>
              </a:rPr>
              <a:t>可靠恢复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003F8F"/>
                </a:solidFill>
                <a:latin typeface="Microsoft YaHei"/>
                <a:ea typeface="Microsoft YaHei"/>
              </a:rPr>
              <a:t>+ 回放一致性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349240"/>
            <a:ext cx="11183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8781F"/>
                </a:solidFill>
                <a:latin typeface="Microsoft YaHei"/>
                <a:ea typeface="Microsoft YaHei"/>
              </a:rPr>
              <a:t>关键边界：逐步匹配 token 分布 ≠ 变长全文分布匹配（精确反例 TV = 1/2）。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742432"/>
            <a:ext cx="11183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5121B"/>
                </a:solidFill>
                <a:latin typeface="Microsoft YaHei"/>
                <a:ea typeface="Microsoft YaHei"/>
              </a:rPr>
              <a:t>不宣称：零 KL、完全不可检测、通用安全或跨硬件确定性。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依据：docs/verified_rrc_theory.md §3/§4、RESEARCH_BRIEF.md。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4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03 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两条生成式文本隐写路线：复现、比较、扩展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两条路线并列；官方 artifact 兼容复现通过核心门禁。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55648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55648"/>
            <a:ext cx="50292" cy="210312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874519"/>
            <a:ext cx="5093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路线 A：SparSamp（USENIX Security 2025）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212848"/>
            <a:ext cx="5093208" cy="151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在候选 token 概率分布上做受控稀疏采样，block 收缩到单点后恢复 bit。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项目角色：复现与比较对象。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1755648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1755648"/>
            <a:ext cx="50292" cy="210312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874519"/>
            <a:ext cx="5093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8F88"/>
                </a:solidFill>
                <a:latin typeface="Microsoft YaHei"/>
                <a:ea typeface="Microsoft YaHei"/>
              </a:rPr>
              <a:t>路线 B：Range Coding / RRC（ACL 2026）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212848"/>
            <a:ext cx="5093208" cy="151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把秘密消息映射到概率区间，逐 token 旋转并收缩；接收端反向重放。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Microsoft YaHei"/>
                <a:ea typeface="Microsoft YaHei"/>
              </a:rPr>
              <a:t>项目角色：可靠性审计与扩展对象。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20624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29768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B5CAD"/>
                </a:solidFill>
                <a:latin typeface="Microsoft YaHei"/>
                <a:ea typeface="Microsoft YaHei"/>
              </a:rPr>
              <a:t>R001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" y="4553712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105 tokens / 576 bits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5.486 bit/token 精确解码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74136" y="420624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429768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B5CAD"/>
                </a:solidFill>
                <a:latin typeface="Microsoft YaHei"/>
                <a:ea typeface="Microsoft YaHei"/>
              </a:rPr>
              <a:t>R002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4553712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1,193 / 1,200 完成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420624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429768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B5CAD"/>
                </a:solidFill>
                <a:latin typeface="Microsoft YaHei"/>
                <a:ea typeface="Microsoft YaHei"/>
              </a:rPr>
              <a:t>R002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553712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846/846 无歧义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精确解码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16568" y="4206240"/>
            <a:ext cx="2606040" cy="10972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62872" y="4297680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B5CAD"/>
                </a:solidFill>
                <a:latin typeface="Microsoft YaHei"/>
                <a:ea typeface="Microsoft YaHei"/>
              </a:rPr>
              <a:t>R002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4553712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16/16 容量误差 ≤5%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最大 4.12%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11183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B5121B"/>
                </a:solidFill>
                <a:latin typeface="Microsoft YaHei"/>
                <a:ea typeface="Microsoft YaHei"/>
              </a:rPr>
              <a:t>动作：复现、比较、扩展；不写“融合成新算法”。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依据：docs/rrc.md、docs/reproducibility/R002_OFFICIAL_MATRIX.md、RESEARCH_BRIEF.md。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5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04 SparSamp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SparSamp：概率分布上的“带密钥稀疏采样”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关键不是“强行指定词”，而是在模型原有概率分布上做可回放的受控采样。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8308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1856231"/>
            <a:ext cx="2194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F8F"/>
                </a:solidFill>
                <a:latin typeface="Microsoft YaHei"/>
                <a:ea typeface="Microsoft YaHei"/>
              </a:rPr>
              <a:t>1 概率分布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13055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模型给候选 token 分配概率，构成采样空间。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807208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880360"/>
            <a:ext cx="2194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F8F"/>
                </a:solidFill>
                <a:latin typeface="Microsoft YaHei"/>
                <a:ea typeface="Microsoft YaHei"/>
              </a:rPr>
              <a:t>2 密钥偏移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154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共享密钥/PRF 生成受控偏移，双方可重放。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831336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904488"/>
            <a:ext cx="2194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F8F"/>
                </a:solidFill>
                <a:latin typeface="Microsoft YaHei"/>
                <a:ea typeface="Microsoft YaHei"/>
              </a:rPr>
              <a:t>3 消息落点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1788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消息块决定稀疏区间内的落点。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855464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928616"/>
            <a:ext cx="2194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3F8F"/>
                </a:solidFill>
                <a:latin typeface="Microsoft YaHei"/>
                <a:ea typeface="Microsoft YaHei"/>
              </a:rPr>
              <a:t>4 收缩恢复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2029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block 收缩到单点后确定全部 bit。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1783080"/>
            <a:ext cx="5440680" cy="32004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7780">
            <a:solidFill>
              <a:srgbClr val="0B5C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039112"/>
            <a:ext cx="5166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F8F"/>
                </a:solidFill>
                <a:latin typeface="Microsoft YaHei"/>
                <a:ea typeface="Microsoft YaHei"/>
              </a:rPr>
              <a:t>插图预留位（待生图后替换）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514600"/>
            <a:ext cx="5166360" cy="2240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A6472"/>
                </a:solidFill>
                <a:latin typeface="Microsoft YaHei"/>
                <a:ea typeface="Microsoft YaHei"/>
              </a:rPr>
              <a:t>fig_sparsamp_sampling.png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166360"/>
            <a:ext cx="5440680" cy="68580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230368"/>
            <a:ext cx="5166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负面结果保留：FH-SparSamp v1 在 128-token 预算下成功率为 2/6，不作为推荐默认。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依据：docs/fh_sparsamp.md、refine-logs/R005_FH_V1_RESULTS.md。插图区为预留位（待生图）。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6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05 RRC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RRC 原理与关键审计发现：局部停止条件的跨边界问题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B5121B"/>
                </a:solidFill>
                <a:latin typeface="Microsoft YaHei"/>
                <a:ea typeface="Microsoft YaHei"/>
              </a:rPr>
              <a:t>发现：局部条件 −1/2 &lt; mid−d ≤ 1/2 不是精确恢复的充分条件（限定：本项目采用的 Algorithm 3/4 形式化）。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3736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37360"/>
            <a:ext cx="50292" cy="100584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856231"/>
            <a:ext cx="30358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5CAD"/>
                </a:solidFill>
                <a:latin typeface="Microsoft YaHei"/>
                <a:ea typeface="Microsoft YaHei"/>
              </a:rPr>
              <a:t>初始秘密点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194560"/>
            <a:ext cx="303580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m ∈ [0, 2^l)</a:t>
            </a:r>
          </a:p>
        </p:txBody>
      </p:sp>
      <p:sp>
        <p:nvSpPr>
          <p:cNvPr id="32" name="Chevron 31"/>
          <p:cNvSpPr/>
          <p:nvPr/>
        </p:nvSpPr>
        <p:spPr>
          <a:xfrm>
            <a:off x="3977639" y="2121408"/>
            <a:ext cx="274320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97680" y="173736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1737360"/>
            <a:ext cx="50292" cy="10058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1856231"/>
            <a:ext cx="30358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C8F88"/>
                </a:solidFill>
                <a:latin typeface="Microsoft YaHei"/>
                <a:ea typeface="Microsoft YaHei"/>
              </a:rPr>
              <a:t>旋转 + 概率切分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2194560"/>
            <a:ext cx="303580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o_t 旋转，按 token 概率分割</a:t>
            </a:r>
          </a:p>
        </p:txBody>
      </p:sp>
      <p:sp>
        <p:nvSpPr>
          <p:cNvPr id="37" name="Chevron 36"/>
          <p:cNvSpPr/>
          <p:nvPr/>
        </p:nvSpPr>
        <p:spPr>
          <a:xfrm>
            <a:off x="7772400" y="2121408"/>
            <a:ext cx="274320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2440" y="1737360"/>
            <a:ext cx="3383280" cy="10058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1737360"/>
            <a:ext cx="50292" cy="100584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1856231"/>
            <a:ext cx="30358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5CAD"/>
                </a:solidFill>
                <a:latin typeface="Microsoft YaHei"/>
                <a:ea typeface="Microsoft YaHei"/>
              </a:rPr>
              <a:t>选中子区间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194560"/>
            <a:ext cx="303580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保留含秘密点的区间，逐 token 收缩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2926080"/>
            <a:ext cx="5486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11111"/>
                </a:solidFill>
                <a:latin typeface="Microsoft YaHei"/>
                <a:ea typeface="Microsoft YaHei"/>
              </a:rPr>
              <a:t>精确反例逐步推导（M=8，m=3）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2461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319272"/>
            <a:ext cx="1920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3F8F"/>
                </a:solidFill>
                <a:latin typeface="Microsoft YaHei"/>
                <a:ea typeface="Microsoft YaHei"/>
              </a:rPr>
              <a:t>初始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5844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I⁻¹=[0,8)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m=3</a:t>
            </a:r>
          </a:p>
        </p:txBody>
      </p:sp>
      <p:sp>
        <p:nvSpPr>
          <p:cNvPr id="46" name="Chevron 45"/>
          <p:cNvSpPr/>
          <p:nvPr/>
        </p:nvSpPr>
        <p:spPr>
          <a:xfrm>
            <a:off x="2432304" y="3648456"/>
            <a:ext cx="201168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642615" y="32461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42615" y="3319272"/>
            <a:ext cx="1920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3F8F"/>
                </a:solidFill>
                <a:latin typeface="Microsoft YaHei"/>
                <a:ea typeface="Microsoft YaHei"/>
              </a:rPr>
              <a:t>t=0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42615" y="35844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选中 I⁰=[3,5)</a:t>
            </a:r>
          </a:p>
        </p:txBody>
      </p:sp>
      <p:sp>
        <p:nvSpPr>
          <p:cNvPr id="50" name="Chevron 49"/>
          <p:cNvSpPr/>
          <p:nvPr/>
        </p:nvSpPr>
        <p:spPr>
          <a:xfrm>
            <a:off x="4572000" y="3648456"/>
            <a:ext cx="201168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82312" y="32461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82312" y="3319272"/>
            <a:ext cx="1920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3F8F"/>
                </a:solidFill>
                <a:latin typeface="Microsoft YaHei"/>
                <a:ea typeface="Microsoft YaHei"/>
              </a:rPr>
              <a:t>t=1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5844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o₁=1/2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I¹=[3,9/2)</a:t>
            </a:r>
          </a:p>
        </p:txBody>
      </p:sp>
      <p:sp>
        <p:nvSpPr>
          <p:cNvPr id="54" name="Chevron 53"/>
          <p:cNvSpPr/>
          <p:nvPr/>
        </p:nvSpPr>
        <p:spPr>
          <a:xfrm>
            <a:off x="6711696" y="3648456"/>
            <a:ext cx="201168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922007" y="32461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2007" y="3319272"/>
            <a:ext cx="1920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3F8F"/>
                </a:solidFill>
                <a:latin typeface="Microsoft YaHei"/>
                <a:ea typeface="Microsoft YaHei"/>
              </a:rPr>
              <a:t>反向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7" y="35844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mid=15/4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逆旋转得 19/4</a:t>
            </a:r>
          </a:p>
        </p:txBody>
      </p:sp>
      <p:sp>
        <p:nvSpPr>
          <p:cNvPr id="58" name="Chevron 57"/>
          <p:cNvSpPr/>
          <p:nvPr/>
        </p:nvSpPr>
        <p:spPr>
          <a:xfrm>
            <a:off x="8851392" y="3648456"/>
            <a:ext cx="201168" cy="237744"/>
          </a:xfrm>
          <a:prstGeom prst="chevron">
            <a:avLst/>
          </a:prstGeom>
          <a:solidFill>
            <a:srgbClr val="0B5CAD"/>
          </a:solidFill>
          <a:ln w="10160">
            <a:solidFill>
              <a:srgbClr val="0B5C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061704" y="32461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61704" y="3319272"/>
            <a:ext cx="1920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B5121B"/>
                </a:solidFill>
                <a:latin typeface="Microsoft YaHei"/>
                <a:ea typeface="Microsoft YaHei"/>
              </a:rPr>
              <a:t>结果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61704" y="3584448"/>
            <a:ext cx="1920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round(19/4)=5</a:t>
            </a:r>
          </a:p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5 ≠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4572000"/>
            <a:ext cx="6675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失败区域：o₀∈[0,1/64]，o₁∈[15/32,17/32] → 测度 1/1024（正概率，非孤立点）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根因：反向模旋转跨越切点——圆周距离保持 ≠ 线性距离保持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24344" y="4489704"/>
            <a:ext cx="4370832" cy="941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fig_counterexample_w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4526280"/>
            <a:ext cx="1544320" cy="86868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502920" y="5532120"/>
            <a:ext cx="11183112" cy="4572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5605272"/>
            <a:ext cx="10835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B5121B"/>
                </a:solidFill>
                <a:latin typeface="Microsoft YaHei"/>
                <a:ea typeface="Microsoft YaHei"/>
              </a:rPr>
              <a:t>必须真正执行接收端逆过程验证，而不是只检查局部距离。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依据：docs/rrc.md、docs/verified_rrc_theory.md §4、refine-logs/R019_VERIFIED_RRC_THEORY_AUDIT.md。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7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06 方法一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Verified-RRC 与 Fixed-Length：确认能恢复才停止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固定公开长度 + HMAC 认证帧，缓解停止长度泄露。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830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83080"/>
            <a:ext cx="50292" cy="96012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901952"/>
            <a:ext cx="20299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5CAD"/>
                </a:solidFill>
                <a:latin typeface="Microsoft YaHei"/>
                <a:ea typeface="Microsoft YaHei"/>
              </a:rPr>
              <a:t>候选停止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240280"/>
            <a:ext cx="2029968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局部条件满足</a:t>
            </a:r>
          </a:p>
        </p:txBody>
      </p:sp>
      <p:sp>
        <p:nvSpPr>
          <p:cNvPr id="32" name="Chevron 31"/>
          <p:cNvSpPr/>
          <p:nvPr/>
        </p:nvSpPr>
        <p:spPr>
          <a:xfrm>
            <a:off x="2971800" y="2139696"/>
            <a:ext cx="292608" cy="237744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74136" y="17830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74136" y="1783080"/>
            <a:ext cx="50292" cy="96012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57016" y="1901952"/>
            <a:ext cx="20299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5CAD"/>
                </a:solidFill>
                <a:latin typeface="Microsoft YaHei"/>
                <a:ea typeface="Microsoft YaHei"/>
              </a:rPr>
              <a:t>逆重放验证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2240280"/>
            <a:ext cx="2029968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完整模拟接收端</a:t>
            </a:r>
          </a:p>
        </p:txBody>
      </p:sp>
      <p:sp>
        <p:nvSpPr>
          <p:cNvPr id="37" name="Chevron 36"/>
          <p:cNvSpPr/>
          <p:nvPr/>
        </p:nvSpPr>
        <p:spPr>
          <a:xfrm>
            <a:off x="5843016" y="2139696"/>
            <a:ext cx="292608" cy="237744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45352" y="17830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45352" y="1783080"/>
            <a:ext cx="50292" cy="96012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1901952"/>
            <a:ext cx="20299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5CAD"/>
                </a:solidFill>
                <a:latin typeface="Microsoft YaHei"/>
                <a:ea typeface="Microsoft YaHei"/>
              </a:rPr>
              <a:t>HMAC 认证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2240280"/>
            <a:ext cx="2029968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验证消息前缀</a:t>
            </a:r>
          </a:p>
        </p:txBody>
      </p:sp>
      <p:sp>
        <p:nvSpPr>
          <p:cNvPr id="42" name="Chevron 41"/>
          <p:cNvSpPr/>
          <p:nvPr/>
        </p:nvSpPr>
        <p:spPr>
          <a:xfrm>
            <a:off x="8714232" y="2139696"/>
            <a:ext cx="292608" cy="237744"/>
          </a:xfrm>
          <a:prstGeom prst="chevron">
            <a:avLst/>
          </a:prstGeom>
          <a:solidFill>
            <a:srgbClr val="D8781F"/>
          </a:solidFill>
          <a:ln w="10160">
            <a:solidFill>
              <a:srgbClr val="D87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16568" y="178308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16568" y="1783080"/>
            <a:ext cx="50292" cy="96012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9448" y="1901952"/>
            <a:ext cx="20299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5CAD"/>
                </a:solidFill>
                <a:latin typeface="Microsoft YaHei"/>
                <a:ea typeface="Microsoft YaHei"/>
              </a:rPr>
              <a:t>固定长度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9448" y="2240280"/>
            <a:ext cx="2029968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采样至公开 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0175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3017520"/>
            <a:ext cx="50292" cy="1371600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136391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5121B"/>
                </a:solidFill>
                <a:latin typeface="Microsoft YaHei"/>
                <a:ea typeface="Microsoft YaHei"/>
              </a:rPr>
              <a:t>原局部规则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3474720"/>
            <a:ext cx="3081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Mock 精确恢复率 87%–96%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30175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3017520"/>
            <a:ext cx="50292" cy="137160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3136391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C8F88"/>
                </a:solidFill>
                <a:latin typeface="Microsoft YaHei"/>
                <a:ea typeface="Microsoft YaHei"/>
              </a:rPr>
              <a:t>Verified-RRC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3474720"/>
            <a:ext cx="3081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500/500 精确恢复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平均 +0.04–0.15 token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301752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3017520"/>
            <a:ext cx="50292" cy="137160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5320" y="3136391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3F8F"/>
                </a:solidFill>
                <a:latin typeface="Microsoft YaHei"/>
                <a:ea typeface="Microsoft YaHei"/>
              </a:rPr>
              <a:t>R020 固定长度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474720"/>
            <a:ext cx="3081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Mock 400/400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0 错 key 接受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3017520"/>
            <a:ext cx="3474720" cy="1371600"/>
          </a:xfrm>
          <a:prstGeom prst="roundRect">
            <a:avLst>
              <a:gd name="adj" fmla="val 4000"/>
            </a:avLst>
          </a:prstGeom>
          <a:solidFill>
            <a:srgbClr val="EAF2FF"/>
          </a:solidFill>
          <a:ln w="17780">
            <a:solidFill>
              <a:srgbClr val="0B5C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3273552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3F8F"/>
                </a:solidFill>
                <a:latin typeface="Microsoft YaHei"/>
                <a:ea typeface="Microsoft YaHei"/>
              </a:rPr>
              <a:t>插图预留位（待生图后替换）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3749039"/>
            <a:ext cx="3200400" cy="41147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5A6472"/>
                </a:solidFill>
                <a:latin typeface="Microsoft YaHei"/>
                <a:ea typeface="Microsoft YaHei"/>
              </a:rPr>
              <a:t>fig_hmac_frame.png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4663440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4754880"/>
            <a:ext cx="10835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认证帧：F = m ‖ HMAC(K_auth, domain ‖ l ‖ context ‖ m)[:a]，默认 a=128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440680"/>
            <a:ext cx="1118311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边界：非任意模型必然有限终止；R021 4 对 matched cover 未见稳定熵偏移（1.110 vs 1.124 bit/token），不构成不可检测结论。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依据：refine-logs/R012、R020、R021；docs/fixed_length_rrc.md。插图区为预留位（待生图）。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8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07 方法二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BDS：跨 FP16 / BF16 只记录真正不稳定的决策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公开整数概率合同 + 有限枚举可行决策集；稳定步省略，不稳定步记录。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1746504"/>
            <a:ext cx="5468112" cy="34564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_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9" y="1783080"/>
            <a:ext cx="5074920" cy="3383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" y="5257800"/>
            <a:ext cx="5394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A6472"/>
                </a:solidFill>
                <a:latin typeface="Microsoft YaHei"/>
                <a:ea typeface="Microsoft YaHei"/>
              </a:rPr>
              <a:t>工作论文 Figure 1（BDS 架构，既有图）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783080"/>
            <a:ext cx="5440680" cy="128016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783080"/>
            <a:ext cx="50292" cy="1280160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901952"/>
            <a:ext cx="5093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5121B"/>
                </a:solidFill>
                <a:latin typeface="Microsoft YaHei"/>
                <a:ea typeface="Microsoft YaHei"/>
              </a:rPr>
              <a:t>问题（R044）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240280"/>
            <a:ext cx="5093208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FP16→BF16 未校正仅 10/60 精确；平均修正率 2.16% [1.80, 2.53]。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200400"/>
            <a:ext cx="5440680" cy="128016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200400"/>
            <a:ext cx="50292" cy="128016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319272"/>
            <a:ext cx="5093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C8F88"/>
                </a:solidFill>
                <a:latin typeface="Microsoft YaHei"/>
                <a:ea typeface="Microsoft YaHei"/>
              </a:rPr>
              <a:t>机制（BDS）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600"/>
            <a:ext cx="5093208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量化 bin / top-16 envelope / top-2 整数合同；在 bin 扰动半径内枚举可行决策。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617720"/>
            <a:ext cx="5440680" cy="128016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4617720"/>
            <a:ext cx="50292" cy="128016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736592"/>
            <a:ext cx="50932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实证（R059）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74920"/>
            <a:ext cx="5093208" cy="694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独立 seed 40/40 精确回放、0 false-safe；证书负载/完整轨迹 ≈54.6%。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943600"/>
            <a:ext cx="54406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A6472"/>
                </a:solidFill>
                <a:latin typeface="Microsoft YaHei"/>
                <a:ea typeface="Microsoft YaHei"/>
              </a:rPr>
              <a:t>新概念图预留位：fig_bds_replay.png（待生图，届时替换左图）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依据：docs/reproducibility/R055、R056、R058、R059；RESEARCH_BRIEF.md。边界：Qwen2.5-1.5B-Instruct、RTX 3060 Laptop、指定软件栈；不等于跨硬件绝对可复现。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9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08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实验结果汇总（真实数据）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A6472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主实验：校正后 60/60 精确重放，平均修正率 2.16% [1.80, 2.53]。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" y="1746504"/>
            <a:ext cx="5833872" cy="38679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2_main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80" y="1783080"/>
            <a:ext cx="5364399" cy="3794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20" y="5650992"/>
            <a:ext cx="5760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5A6472"/>
                </a:solidFill>
                <a:latin typeface="Microsoft YaHei"/>
                <a:ea typeface="Microsoft YaHei"/>
              </a:rPr>
              <a:t>R044：校正后 60/60 vs 未校正 10/60（真实数据）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78308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1783080"/>
            <a:ext cx="2651760" cy="4114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947672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03F8F"/>
                </a:solidFill>
                <a:latin typeface="Microsoft YaHei"/>
                <a:ea typeface="Microsoft YaHei"/>
              </a:rPr>
              <a:t>60/60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2606040"/>
            <a:ext cx="243230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校正后精确重放（R044）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1783080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0" y="1783080"/>
            <a:ext cx="2651760" cy="41148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947672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B5121B"/>
                </a:solidFill>
                <a:latin typeface="Microsoft YaHei"/>
                <a:ea typeface="Microsoft YaHei"/>
              </a:rPr>
              <a:t>10/60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7" y="2606040"/>
            <a:ext cx="243230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未校正对照组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749039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3749039"/>
            <a:ext cx="2651760" cy="41148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913631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C8F88"/>
                </a:solidFill>
                <a:latin typeface="Microsoft YaHei"/>
                <a:ea typeface="Microsoft YaHei"/>
              </a:rPr>
              <a:t>2.16%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572000"/>
            <a:ext cx="243230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平均修正率 [1.80, 2.53]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749039"/>
            <a:ext cx="26517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26880" y="3749039"/>
            <a:ext cx="2651760" cy="41148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913631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B5CAD"/>
                </a:solidFill>
                <a:latin typeface="Microsoft YaHei"/>
                <a:ea typeface="Microsoft YaHei"/>
              </a:rPr>
              <a:t>24.76%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7" y="4572000"/>
            <a:ext cx="2432304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SPRC 包/完整轨迹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333333"/>
                </a:solidFill>
                <a:latin typeface="Microsoft YaHei"/>
                <a:ea typeface="Microsoft YaHei"/>
              </a:rPr>
              <a:t>（1,148 B vs 4,636 B）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943600"/>
            <a:ext cx="11183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8781F"/>
                </a:solidFill>
                <a:latin typeface="Microsoft YaHei"/>
                <a:ea typeface="Microsoft YaHei"/>
              </a:rPr>
              <a:t>补充：反向精度方向 BF16→FP16 20/20（R046）；口径：payload-only 6.65% / referenced 24.76% / self-contained 63.89% 是不同估计量。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依据：figures/source_data/figure_02_source.csv；docs/reproducibility/R044_ANALYSIS.md、R046_ABLATION_ANALYSIS.md、R051_REPLAY_BASELINES.md。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36576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生成式文本隐写 | 科研面试汇报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92840" y="6473952"/>
            <a:ext cx="7315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5A6472"/>
                </a:solidFill>
                <a:latin typeface="Microsoft YaHei"/>
                <a:ea typeface="Microsoft YaHei"/>
              </a:rPr>
              <a:t>10 /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371600" cy="292608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13716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09 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56032"/>
            <a:ext cx="9646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Microsoft YaHei"/>
                <a:ea typeface="Microsoft YaHei"/>
              </a:rPr>
              <a:t>局限、未来与总结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背景</a:t>
            </a:r>
          </a:p>
        </p:txBody>
      </p:sp>
      <p:sp>
        <p:nvSpPr>
          <p:cNvPr id="10" name="Chevron 9"/>
          <p:cNvSpPr/>
          <p:nvPr/>
        </p:nvSpPr>
        <p:spPr>
          <a:xfrm>
            <a:off x="2281428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95728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4236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8536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</a:p>
        </p:txBody>
      </p:sp>
      <p:sp>
        <p:nvSpPr>
          <p:cNvPr id="16" name="Chevron 15"/>
          <p:cNvSpPr/>
          <p:nvPr/>
        </p:nvSpPr>
        <p:spPr>
          <a:xfrm>
            <a:off x="6067043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3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3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9" name="Chevron 18"/>
          <p:cNvSpPr/>
          <p:nvPr/>
        </p:nvSpPr>
        <p:spPr>
          <a:xfrm>
            <a:off x="7959852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03F8F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22" name="Chevron 21"/>
          <p:cNvSpPr/>
          <p:nvPr/>
        </p:nvSpPr>
        <p:spPr>
          <a:xfrm>
            <a:off x="9852660" y="932688"/>
            <a:ext cx="109728" cy="237744"/>
          </a:xfrm>
          <a:prstGeom prst="chevron">
            <a:avLst/>
          </a:prstGeom>
          <a:solidFill>
            <a:srgbClr val="D8DEE8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905256"/>
            <a:ext cx="1773936" cy="201168"/>
          </a:xfrm>
          <a:prstGeom prst="roundRect">
            <a:avLst>
              <a:gd name="adj" fmla="val 30000"/>
            </a:avLst>
          </a:prstGeom>
          <a:solidFill>
            <a:srgbClr val="0B5CAD"/>
          </a:solidFill>
          <a:ln w="10160">
            <a:solidFill>
              <a:srgbClr val="003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923544"/>
            <a:ext cx="177393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207008"/>
            <a:ext cx="11183112" cy="12801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1316736"/>
            <a:ext cx="11183112" cy="292608"/>
          </a:xfrm>
          <a:prstGeom prst="roundRect">
            <a:avLst>
              <a:gd name="adj" fmla="val 14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344168"/>
            <a:ext cx="10835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3F8F"/>
                </a:solidFill>
                <a:latin typeface="Microsoft YaHei"/>
                <a:ea typeface="Microsoft YaHei"/>
              </a:rPr>
              <a:t>结论：先保证“能正确回来”，再讨论“能否稳定重放”；所有结论均为阶段性、条件化的证据。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78308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1783080"/>
            <a:ext cx="50292" cy="1463040"/>
          </a:xfrm>
          <a:prstGeom prst="rect">
            <a:avLst/>
          </a:prstGeom>
          <a:solidFill>
            <a:srgbClr val="0C8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1901952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C8F88"/>
                </a:solidFill>
                <a:latin typeface="Microsoft YaHei"/>
                <a:ea typeface="Microsoft YaHei"/>
              </a:rPr>
              <a:t>总结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240280"/>
            <a:ext cx="308152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RRC 停止正确性审计 + Verified-RRC（Mock 500/500）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178308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1783080"/>
            <a:ext cx="50292" cy="1463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1901952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3F8F"/>
                </a:solidFill>
                <a:latin typeface="Microsoft YaHei"/>
                <a:ea typeface="Microsoft YaHei"/>
              </a:rPr>
              <a:t>总结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2240280"/>
            <a:ext cx="308152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跨精度稀疏修正回放：校正后 60/60 vs 未校正 10/60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178308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1783080"/>
            <a:ext cx="50292" cy="146304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1901952"/>
            <a:ext cx="30815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3F8F"/>
                </a:solidFill>
                <a:latin typeface="Microsoft YaHei"/>
                <a:ea typeface="Microsoft YaHei"/>
              </a:rPr>
              <a:t>总结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240280"/>
            <a:ext cx="3081528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Microsoft YaHei"/>
                <a:ea typeface="Microsoft YaHei"/>
              </a:rPr>
              <a:t>BDS 独立确认：40/40 精确回放、0 false-safe（R059）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35204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3520440"/>
            <a:ext cx="50292" cy="1371600"/>
          </a:xfrm>
          <a:prstGeom prst="rect">
            <a:avLst/>
          </a:prstGeom>
          <a:solidFill>
            <a:srgbClr val="D87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639312"/>
            <a:ext cx="51846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8781F"/>
                </a:solidFill>
                <a:latin typeface="Microsoft YaHei"/>
                <a:ea typeface="Microsoft YaHei"/>
              </a:rPr>
              <a:t>局限（如实声明）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977639"/>
            <a:ext cx="518464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单模型单 GPU；无真人盲评（R048 未收集）；无跨硬件验证；无任意模型必然终止证明。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5204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016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3520440"/>
            <a:ext cx="50292" cy="1371600"/>
          </a:xfrm>
          <a:prstGeom prst="rect">
            <a:avLst/>
          </a:prstGeom>
          <a:solidFill>
            <a:srgbClr val="00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639312"/>
            <a:ext cx="5138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F8F"/>
                </a:solidFill>
                <a:latin typeface="Microsoft YaHei"/>
                <a:ea typeface="Microsoft YaHei"/>
              </a:rPr>
              <a:t>未来工作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977639"/>
            <a:ext cx="51389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3333"/>
                </a:solidFill>
                <a:latin typeface="Microsoft YaHei"/>
                <a:ea typeface="Microsoft YaHei"/>
              </a:rPr>
              <a:t>扩大模型/硬件矩阵；固定长度失败率区间；整数频数合同；盲评与检测实验。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257800"/>
            <a:ext cx="1118311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5121B"/>
                </a:solidFill>
                <a:latin typeface="Microsoft YaHei"/>
                <a:ea typeface="Microsoft YaHei"/>
              </a:rPr>
              <a:t>状态：working paper / 项目阶段成果；不宣称已发表、通用安全、完全不可检测、跨硬件保证或零 KL。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11155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A6472"/>
                </a:solidFill>
                <a:latin typeface="Microsoft YaHei"/>
                <a:ea typeface="Microsoft YaHei"/>
              </a:rPr>
              <a:t>依据：RESEARCH_BRIEF.md、paper/CLAIM_EVIDENCE_MAP.md、paper/AUTHOR_NOTES_ZH.md。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大语言模型生成式文本隐写的可靠编码与跨精度回放研究</dc:title>
  <dc:subject>科研面试 / 保研面试汇报（codex-ppt 工作流，插图待生图）</dc:subject>
  <dc:creator>项目答辩材料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