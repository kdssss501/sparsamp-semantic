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标题页</a:t>
            </a:r>
          </a:p>
          <a:p/>
          <a:p>
            <a:r>
              <a:t>各位老师好，我汇报的项目是“大语言模型生成式文本隐写的可靠编码与跨精度回放研究”。一句话定位：我复现、比较并扩展了 SparSamp 与 RRC 两条生成式文本隐写路线，重点解决两个问题——接收端能不能可靠恢复消息，以及模型在不同数值精度下能不能稳定重放同一个 token 序列。目前属于 working paper 与项目阶段成果。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研究背景</a:t>
            </a:r>
          </a:p>
          <a:p/>
          <a:p>
            <a:r>
              <a:t>大语言模型每一步都会给候选 token 分配一个概率。生成式文本隐写利用这张概率表，在正常生成的过程中嵌入秘密比特；持有相同密钥、模型和配置的接收端，可以沿着同一轨迹把它恢复出来。它值得研究，是因为“看起来正常”还不够——随机生成对数值精度非常敏感，一个 token 的分叉会沿自回归轨迹不断放大。在我们的主实验中，不做任何修正时，FP16 到 BF16 只有 10/60 条轨迹能精确重放，这正好引出后面要解决的问题。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问题定义</a:t>
            </a:r>
          </a:p>
          <a:p/>
          <a:p>
            <a:r>
              <a:t>评价隐写系统不能只看一个指标。自然性、容量、可恢复性、可检测性四个目标互相牵制：容量高可能伤害文本质量；即便每一步 token 分布都匹配，也不自动等于变长全文分布匹配——我们构造过一个精确反例，两种过程的总变差距离可以达到二分之一。所以本项目没有宣称解决所有问题，而是聚焦可恢复性与数值回放一致性，其余指标只报告证据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技术路线</a:t>
            </a:r>
          </a:p>
          <a:p/>
          <a:p>
            <a:r>
              <a:t>项目复现、比较两条路线。路线 A 是 SparSamp，来自 USENIX Security 2025：我们以未修改的官方 artifact 做兼容复现，105 个 token、576 bit、5.486 bit/token 精确解码；12 个配置共 1,200 条实验里 1,193 条完成，无歧义子集 846/846 精确解码，16 项容量对比误差都在 5% 以内。路线 B 是 ACL 2026 的 RRC，本项目以它为可靠性审计对象。两条路线是并列关系，我不把它们说成融合算法。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SparSamp 原理</a:t>
            </a:r>
          </a:p>
          <a:p/>
          <a:p>
            <a:r>
              <a:t>SparSamp 可以理解成：模型给出一张候选词概率表，双方用共享密钥生成一致的受控偏移，消息块决定在稀疏区间内的落点；当区间收缩到单点，这一块 bit 就确定了，接收端可以按反向规则恢复。它不是在概率表上强行指定一个词，而是在模型原有的概率分布上进行可回放的采样。在我们项目里，这条路线主要承担复现与对比角色。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RRC 原理</a:t>
            </a:r>
          </a:p>
          <a:p/>
          <a:p>
            <a:r>
              <a:t>RRC 把 l 比特消息看成初始区间 [0, 2^l) 内的一个秘密点。每一步用共享偏移旋转这个点，再按语言模型给出的 token 概率把区间分割，选择包含秘密点的子区间，输出对应 token。区间就这样逐 token 收缩。接收端用相同前缀、偏移和分割规则反向重放，目标是恢复原始消息。旋转的作用，是让秘密点在当前区间内均匀移动，从而贴合模型分布。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关键发现</a:t>
            </a:r>
          </a:p>
          <a:p/>
          <a:p>
            <a:r>
              <a:t>在审计 RRC 的停止逻辑时，我们发现一个跨边界问题。论文的局部条件只看“中点是否足够接近当前秘密点”，但反向恢复是模区间映射，存在切点；跨过切点后，数轴上的局部距离不能保持。项目给出一个精确两步反例：局部条件满足，最终却恢复出 5，而原消息是 3；并且这不是零概率事件，失败区域概率为 1/1024。这里需要强调表述边界：这是在本项目采用的 Algorithm 3/4 形式化下，该条件不是精确恢复的充分条件，不代表原论文所有实现都错误。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方法改进</a:t>
            </a:r>
          </a:p>
          <a:p/>
          <a:p>
            <a:r>
              <a:t>因此我实现了 Verified-RRC：局部条件满足时不立刻停止，而是完整模拟接收端逆重放，确认能恢复原消息才输出。R012 的 500 个 Mock 样本全部精确恢复，原局部规则只有 87% 到 96%，而验证平均只多花 0.04 到 0.15 个 token。为了不让完成时刻泄露在文本长度里，固定长度版本把消息和 HMAC 认证标签一起嵌入，再采样到公开长度 N；Mock 下 400/400 恢复、错密钥零误接受。需要说明，这不是“任意模型必然有限终止”的证明，小样本也不构成不可检测性结论。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工程可靠性</a:t>
            </a:r>
          </a:p>
          <a:p/>
          <a:p>
            <a:r>
              <a:t>RRC 的数学正确性还不够，因为发送端和接收端可能运行在 FP16 与 BF16 上，微小数值差异会让决策分叉。BDS 的做法是：先立一个公开的整数概率合同，再在声明的不确定范围内枚举所有可行的决策；如果某一步无论怎么扰动都选同一个 token，就省略记录，否则记录修正信息。R059 的两个独立 seed 合计 40/40 精确回放、观测到 0 次 false-safe，证书负载约为完整轨迹的 54.6%。但结论范围是 Qwen2.5-1.5B、RTX 3060 Laptop 和指定软件栈，不等于跨硬件保证。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结果与总结</a:t>
            </a:r>
          </a:p>
          <a:p/>
          <a:p>
            <a:r>
              <a:t>最后总结三点。第一，我复现比较了两条隐写路线，并审计出 RRC 局部停止条件的跨边界风险；第二，Verified-RRC 与固定长度认证设计在项目测试中把精确恢复可靠性提高到了 500/500 与 400/400；第三，BDS 在指定环境下把跨精度回放从未校正的 10/60 提升到 60/60，独立确认 40/40 且零 false-safe。现有成果都是条件化、阶段性的：单模型、单 GPU，没有真人盲评，也没有跨硬件验证，因此不宣称通用安全、完全不可检测或论文已发表。下一步我会扩大模型与硬件矩阵，并补足文本质量与检测实验。我的汇报到此结束，谢谢各位老师。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667085"/>
                </a:solidFill>
                <a:latin typeface="Microsoft YaHei"/>
                <a:ea typeface="Microsoft YaHei"/>
              </a:rPr>
              <a:t>1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83480" cy="6858000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77240"/>
            <a:ext cx="3840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D7D0"/>
                </a:solidFill>
                <a:latin typeface="Microsoft YaHei"/>
                <a:ea typeface="Microsoft YaHei"/>
              </a:rPr>
              <a:t>科研面试汇报 · 保研面试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4023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大语言模型</a:t>
            </a:r>
          </a:p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生成式文本隐写的</a:t>
            </a:r>
          </a:p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可靠编码与</a:t>
            </a:r>
          </a:p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跨精度回放研究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703320"/>
            <a:ext cx="3931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5E7F5"/>
                </a:solidFill>
                <a:latin typeface="Microsoft YaHei"/>
                <a:ea typeface="Microsoft YaHei"/>
              </a:rPr>
              <a:t>复现、比较并扩展 SparSamp 与 RRC 两条路线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5074920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姓名：____________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学校 / 专业：____________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汇报时长：8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143000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3B64"/>
                </a:solidFill>
                <a:latin typeface="Microsoft YaHei"/>
                <a:ea typeface="Microsoft YaHei"/>
              </a:rPr>
              <a:t>概率空间中的秘密信息编码（示意）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151375"/>
            <a:ext cx="329184" cy="1563624"/>
          </a:xfrm>
          <a:prstGeom prst="roundRect">
            <a:avLst>
              <a:gd name="adj" fmla="val 5000"/>
            </a:avLst>
          </a:prstGeom>
          <a:solidFill>
            <a:srgbClr val="AFC6D9"/>
          </a:solidFill>
          <a:ln w="10160">
            <a:solidFill>
              <a:srgbClr val="AFC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8696" y="5751576"/>
            <a:ext cx="43891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67085"/>
                </a:solidFill>
                <a:latin typeface="Microsoft YaHei"/>
                <a:ea typeface="Microsoft YaHei"/>
              </a:rPr>
              <a:t>t1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3108960"/>
            <a:ext cx="329184" cy="2606039"/>
          </a:xfrm>
          <a:prstGeom prst="roundRect">
            <a:avLst>
              <a:gd name="adj" fmla="val 5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5751576"/>
            <a:ext cx="43891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67085"/>
                </a:solidFill>
                <a:latin typeface="Microsoft YaHei"/>
                <a:ea typeface="Microsoft YaHei"/>
              </a:rPr>
              <a:t>t2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0296" y="4637836"/>
            <a:ext cx="329184" cy="1077163"/>
          </a:xfrm>
          <a:prstGeom prst="roundRect">
            <a:avLst>
              <a:gd name="adj" fmla="val 5000"/>
            </a:avLst>
          </a:prstGeom>
          <a:solidFill>
            <a:srgbClr val="AFC6D9"/>
          </a:solidFill>
          <a:ln w="10160">
            <a:solidFill>
              <a:srgbClr val="AFC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2" y="5751576"/>
            <a:ext cx="43891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67085"/>
                </a:solidFill>
                <a:latin typeface="Microsoft YaHei"/>
                <a:ea typeface="Microsoft YaHei"/>
              </a:rPr>
              <a:t>t3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98664" y="3769156"/>
            <a:ext cx="329184" cy="1945843"/>
          </a:xfrm>
          <a:prstGeom prst="roundRect">
            <a:avLst>
              <a:gd name="adj" fmla="val 5000"/>
            </a:avLst>
          </a:prstGeom>
          <a:solidFill>
            <a:srgbClr val="AFC6D9"/>
          </a:solidFill>
          <a:ln w="10160">
            <a:solidFill>
              <a:srgbClr val="AFC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5751576"/>
            <a:ext cx="43891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67085"/>
                </a:solidFill>
                <a:latin typeface="Microsoft YaHei"/>
                <a:ea typeface="Microsoft YaHei"/>
              </a:rPr>
              <a:t>t4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57032" y="4985308"/>
            <a:ext cx="329184" cy="729691"/>
          </a:xfrm>
          <a:prstGeom prst="roundRect">
            <a:avLst>
              <a:gd name="adj" fmla="val 5000"/>
            </a:avLst>
          </a:prstGeom>
          <a:solidFill>
            <a:srgbClr val="AFC6D9"/>
          </a:solidFill>
          <a:ln w="10160">
            <a:solidFill>
              <a:srgbClr val="AFC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5751576"/>
            <a:ext cx="43891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67085"/>
                </a:solidFill>
                <a:latin typeface="Microsoft YaHei"/>
                <a:ea typeface="Microsoft YaHei"/>
              </a:rPr>
              <a:t>t5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411979"/>
            <a:ext cx="329184" cy="1303019"/>
          </a:xfrm>
          <a:prstGeom prst="roundRect">
            <a:avLst>
              <a:gd name="adj" fmla="val 5000"/>
            </a:avLst>
          </a:prstGeom>
          <a:solidFill>
            <a:srgbClr val="AFC6D9"/>
          </a:solidFill>
          <a:ln w="10160">
            <a:solidFill>
              <a:srgbClr val="AFC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0536" y="5751576"/>
            <a:ext cx="43891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67085"/>
                </a:solidFill>
                <a:latin typeface="Microsoft YaHei"/>
                <a:ea typeface="Microsoft YaHei"/>
              </a:rPr>
              <a:t>t6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73768" y="5193792"/>
            <a:ext cx="329184" cy="521207"/>
          </a:xfrm>
          <a:prstGeom prst="roundRect">
            <a:avLst>
              <a:gd name="adj" fmla="val 5000"/>
            </a:avLst>
          </a:prstGeom>
          <a:solidFill>
            <a:srgbClr val="AFC6D9"/>
          </a:solidFill>
          <a:ln w="10160">
            <a:solidFill>
              <a:srgbClr val="AFC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18904" y="5751576"/>
            <a:ext cx="43891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67085"/>
                </a:solidFill>
                <a:latin typeface="Microsoft YaHei"/>
                <a:ea typeface="Microsoft YaHei"/>
              </a:rPr>
              <a:t>t7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89204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4910327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C8F88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71032" y="489204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71032" y="4910327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8504" y="489204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8504" y="4910327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C8F88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5976" y="489204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5976" y="4910327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13448" y="489204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13448" y="4910327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20" y="489204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20" y="4910327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C8F88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08392" y="489204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08392" y="4910327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55864" y="489204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55864" y="4910327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C8F88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41" name="Chevron 40"/>
          <p:cNvSpPr/>
          <p:nvPr/>
        </p:nvSpPr>
        <p:spPr>
          <a:xfrm>
            <a:off x="7360920" y="4709160"/>
            <a:ext cx="640080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86400" y="553212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EDF3F8"/>
          </a:solidFill>
          <a:ln w="10160">
            <a:solidFill>
              <a:srgbClr val="EDF3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5582412"/>
            <a:ext cx="1143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45C97"/>
                </a:solidFill>
                <a:latin typeface="Microsoft YaHei"/>
                <a:ea typeface="Microsoft YaHei"/>
              </a:rPr>
              <a:t>模型分布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3720" y="553212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E8F5F1"/>
          </a:solidFill>
          <a:ln w="10160">
            <a:solidFill>
              <a:srgbClr val="E8F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5582412"/>
            <a:ext cx="1143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C8F88"/>
                </a:solidFill>
                <a:latin typeface="Microsoft YaHei"/>
                <a:ea typeface="Microsoft YaHei"/>
              </a:rPr>
              <a:t>密钥控制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553212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 w="10160">
            <a:solidFill>
              <a:srgbClr val="FFF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5582412"/>
            <a:ext cx="1143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D8781F"/>
                </a:solidFill>
                <a:latin typeface="Microsoft YaHei"/>
                <a:ea typeface="Microsoft YaHei"/>
              </a:rPr>
              <a:t>秘密比特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21240" y="5532120"/>
            <a:ext cx="2011680" cy="283464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 w="10160">
            <a:solidFill>
              <a:srgbClr val="FFF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0" y="5582412"/>
            <a:ext cx="19202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D8781F"/>
                </a:solidFill>
                <a:latin typeface="Microsoft YaHei"/>
                <a:ea typeface="Microsoft YaHei"/>
              </a:rPr>
              <a:t>示意（非实验数据）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473952"/>
            <a:ext cx="10881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70" b="0" i="0">
                <a:solidFill>
                  <a:srgbClr val="667085"/>
                </a:solidFill>
                <a:latin typeface="Microsoft YaHei"/>
                <a:ea typeface="Microsoft YaHei"/>
              </a:rPr>
              <a:t>说明：右侧为本页概念示意，不代表实验数据；姓名/学校/专业为占位符，请替换。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667085"/>
                </a:solidFill>
                <a:latin typeface="Microsoft YaHei"/>
                <a:ea typeface="Microsoft YaHei"/>
              </a:rPr>
              <a:t>2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5486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45C97"/>
                </a:solidFill>
                <a:latin typeface="Microsoft YaHei"/>
                <a:ea typeface="Microsoft YaHei"/>
              </a:rPr>
              <a:t>01 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4864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73B64"/>
                </a:solidFill>
                <a:latin typeface="Microsoft YaHei"/>
                <a:ea typeface="Microsoft YaHei"/>
              </a:rPr>
              <a:t>为什么研究大语言模型文本隐写？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目标：在正常生成的文本中传递秘密信息，同时尽量保持生成分布与文本质量。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91640"/>
            <a:ext cx="2377440" cy="32918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91640"/>
            <a:ext cx="54864" cy="3291840"/>
          </a:xfrm>
          <a:prstGeom prst="rect">
            <a:avLst/>
          </a:prstGeom>
          <a:solidFill>
            <a:srgbClr val="24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19656"/>
            <a:ext cx="19933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5C97"/>
                </a:solidFill>
                <a:latin typeface="Microsoft YaHei"/>
                <a:ea typeface="Microsoft YaHei"/>
              </a:rPr>
              <a:t>普通生成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1993392" cy="267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语言模型给每个候选 token 分配概率，并据此采样下一个词。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5029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7313D"/>
                </a:solidFill>
                <a:latin typeface="Microsoft YaHei"/>
                <a:ea typeface="Microsoft YaHei"/>
              </a:rPr>
              <a:t>天气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4" y="2532888"/>
            <a:ext cx="1207008" cy="137160"/>
          </a:xfrm>
          <a:prstGeom prst="roundRect">
            <a:avLst>
              <a:gd name="adj" fmla="val 20000"/>
            </a:avLst>
          </a:prstGeom>
          <a:solidFill>
            <a:srgbClr val="245C97"/>
          </a:solidFill>
          <a:ln w="10160">
            <a:solidFill>
              <a:srgbClr val="245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44952"/>
            <a:ext cx="5029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7313D"/>
                </a:solidFill>
                <a:latin typeface="Microsoft YaHei"/>
                <a:ea typeface="Microsoft YaHei"/>
              </a:rPr>
              <a:t>今天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4" y="3063240"/>
            <a:ext cx="891540" cy="137160"/>
          </a:xfrm>
          <a:prstGeom prst="roundRect">
            <a:avLst>
              <a:gd name="adj" fmla="val 20000"/>
            </a:avLst>
          </a:prstGeom>
          <a:solidFill>
            <a:srgbClr val="AFC6D9"/>
          </a:solidFill>
          <a:ln w="10160">
            <a:solidFill>
              <a:srgbClr val="AFC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75304"/>
            <a:ext cx="5029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7313D"/>
                </a:solidFill>
                <a:latin typeface="Microsoft YaHei"/>
                <a:ea typeface="Microsoft YaHei"/>
              </a:rPr>
              <a:t>适合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17904" y="3593592"/>
            <a:ext cx="576072" cy="137160"/>
          </a:xfrm>
          <a:prstGeom prst="roundRect">
            <a:avLst>
              <a:gd name="adj" fmla="val 20000"/>
            </a:avLst>
          </a:prstGeom>
          <a:solidFill>
            <a:srgbClr val="AFC6D9"/>
          </a:solidFill>
          <a:ln w="10160">
            <a:solidFill>
              <a:srgbClr val="AFC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05656"/>
            <a:ext cx="5029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7313D"/>
                </a:solidFill>
                <a:latin typeface="Microsoft YaHei"/>
                <a:ea typeface="Microsoft YaHei"/>
              </a:rPr>
              <a:t>学习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17904" y="4123944"/>
            <a:ext cx="384048" cy="137160"/>
          </a:xfrm>
          <a:prstGeom prst="roundRect">
            <a:avLst>
              <a:gd name="adj" fmla="val 20000"/>
            </a:avLst>
          </a:prstGeom>
          <a:solidFill>
            <a:srgbClr val="AFC6D9"/>
          </a:solidFill>
          <a:ln w="10160">
            <a:solidFill>
              <a:srgbClr val="AFC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3154680" y="3154680"/>
            <a:ext cx="731520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69080" y="1691640"/>
            <a:ext cx="3200400" cy="3291840"/>
          </a:xfrm>
          <a:prstGeom prst="roundRect">
            <a:avLst>
              <a:gd name="adj" fmla="val 7000"/>
            </a:avLst>
          </a:prstGeom>
          <a:solidFill>
            <a:srgbClr val="E8F5F1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1691640"/>
            <a:ext cx="54864" cy="329184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1819656"/>
            <a:ext cx="28163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C8F88"/>
                </a:solidFill>
                <a:latin typeface="Microsoft YaHei"/>
                <a:ea typeface="Microsoft YaHei"/>
              </a:rPr>
              <a:t>隐写编码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2167128"/>
            <a:ext cx="2816352" cy="267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共享密钥把秘密比特映射到概率空间，让选出的 token 同时承担“自然语言”与“信息载体”。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788920"/>
            <a:ext cx="201168" cy="201168"/>
          </a:xfrm>
          <a:prstGeom prst="roundRect">
            <a:avLst>
              <a:gd name="adj" fmla="val 8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807208"/>
            <a:ext cx="20116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2788920"/>
            <a:ext cx="20116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2807208"/>
            <a:ext cx="20116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C8F88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2788920"/>
            <a:ext cx="201168" cy="201168"/>
          </a:xfrm>
          <a:prstGeom prst="roundRect">
            <a:avLst>
              <a:gd name="adj" fmla="val 8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2807208"/>
            <a:ext cx="20116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2788920"/>
            <a:ext cx="201168" cy="201168"/>
          </a:xfrm>
          <a:prstGeom prst="roundRect">
            <a:avLst>
              <a:gd name="adj" fmla="val 8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2807208"/>
            <a:ext cx="20116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2788920"/>
            <a:ext cx="20116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0" y="2807208"/>
            <a:ext cx="20116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C8F88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2788920"/>
            <a:ext cx="20116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2807208"/>
            <a:ext cx="20116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C8F88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37" name="Chevron 36"/>
          <p:cNvSpPr/>
          <p:nvPr/>
        </p:nvSpPr>
        <p:spPr>
          <a:xfrm>
            <a:off x="5532120" y="3154680"/>
            <a:ext cx="804672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79792" y="1691640"/>
            <a:ext cx="3986784" cy="32918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79792" y="1691640"/>
            <a:ext cx="54864" cy="3291840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1819656"/>
            <a:ext cx="36027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3B64"/>
                </a:solidFill>
                <a:latin typeface="Microsoft YaHei"/>
                <a:ea typeface="Microsoft YaHei"/>
              </a:rPr>
              <a:t>接收端回放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167128"/>
            <a:ext cx="3602736" cy="267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接收端以相同模型、上下文、密钥和离散决策规则回放，恢复嵌入的消息。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257800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67085"/>
                </a:solidFill>
                <a:latin typeface="Microsoft YaHei"/>
                <a:ea typeface="Microsoft YaHei"/>
              </a:rPr>
              <a:t>研究重点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83080" y="5230368"/>
            <a:ext cx="1170432" cy="283464"/>
          </a:xfrm>
          <a:prstGeom prst="roundRect">
            <a:avLst>
              <a:gd name="adj" fmla="val 50000"/>
            </a:avLst>
          </a:prstGeom>
          <a:solidFill>
            <a:srgbClr val="EDF3F8"/>
          </a:solidFill>
          <a:ln w="10160">
            <a:solidFill>
              <a:srgbClr val="EDF3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0" y="5280659"/>
            <a:ext cx="107899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45C97"/>
                </a:solidFill>
                <a:latin typeface="Microsoft YaHei"/>
                <a:ea typeface="Microsoft YaHei"/>
              </a:rPr>
              <a:t>自然性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54680" y="5230368"/>
            <a:ext cx="1170432" cy="283464"/>
          </a:xfrm>
          <a:prstGeom prst="roundRect">
            <a:avLst>
              <a:gd name="adj" fmla="val 50000"/>
            </a:avLst>
          </a:prstGeom>
          <a:solidFill>
            <a:srgbClr val="E8F5F1"/>
          </a:solidFill>
          <a:ln w="10160">
            <a:solidFill>
              <a:srgbClr val="E8F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0" y="5280659"/>
            <a:ext cx="107899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C8F88"/>
                </a:solidFill>
                <a:latin typeface="Microsoft YaHei"/>
                <a:ea typeface="Microsoft YaHei"/>
              </a:rPr>
              <a:t>可恢复性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26280" y="5230368"/>
            <a:ext cx="1170432" cy="283464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 w="10160">
            <a:solidFill>
              <a:srgbClr val="FFF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0" y="5280659"/>
            <a:ext cx="107899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D8781F"/>
                </a:solidFill>
                <a:latin typeface="Microsoft YaHei"/>
                <a:ea typeface="Microsoft YaHei"/>
              </a:rPr>
              <a:t>长度侧信道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97880" y="5230368"/>
            <a:ext cx="1170432" cy="283464"/>
          </a:xfrm>
          <a:prstGeom prst="roundRect">
            <a:avLst>
              <a:gd name="adj" fmla="val 50000"/>
            </a:avLst>
          </a:prstGeom>
          <a:solidFill>
            <a:srgbClr val="FDEEEE"/>
          </a:solidFill>
          <a:ln w="10160">
            <a:solidFill>
              <a:srgbClr val="FD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5280659"/>
            <a:ext cx="107899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2483B"/>
                </a:solidFill>
                <a:latin typeface="Microsoft YaHei"/>
                <a:ea typeface="Microsoft YaHei"/>
              </a:rPr>
              <a:t>数值稳定性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79792" y="523036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2483B"/>
                </a:solidFill>
                <a:latin typeface="Microsoft YaHei"/>
                <a:ea typeface="Microsoft YaHei"/>
              </a:rPr>
              <a:t>实证背景（R044）：FP16 → BF16 不做修正时，60 条轨迹只有 10 条能精确重放。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473952"/>
            <a:ext cx="10881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70" b="0" i="0">
                <a:solidFill>
                  <a:srgbClr val="667085"/>
                </a:solidFill>
                <a:latin typeface="Microsoft YaHei"/>
                <a:ea typeface="Microsoft YaHei"/>
              </a:rPr>
              <a:t>概念依据：项目 README、docs/algorithm.md、docs/reproducibility/R044_ANALYSIS.md；概率条为示意。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667085"/>
                </a:solidFill>
                <a:latin typeface="Microsoft YaHei"/>
                <a:ea typeface="Microsoft YaHei"/>
              </a:rPr>
              <a:t>3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5486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45C97"/>
                </a:solidFill>
                <a:latin typeface="Microsoft YaHei"/>
                <a:ea typeface="Microsoft YaHei"/>
              </a:rPr>
              <a:t>02 问题定义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4864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73B64"/>
                </a:solidFill>
                <a:latin typeface="Microsoft YaHei"/>
                <a:ea typeface="Microsoft YaHei"/>
              </a:rPr>
              <a:t>四个目标互相牵制，不能只看其中一个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本项目优先审计“可靠恢复”与“数值回放一致性”，其他目标只报告证据边界。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475488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91640"/>
            <a:ext cx="54864" cy="1417320"/>
          </a:xfrm>
          <a:prstGeom prst="rect">
            <a:avLst/>
          </a:prstGeom>
          <a:solidFill>
            <a:srgbClr val="24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819656"/>
            <a:ext cx="43708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5C97"/>
                </a:solidFill>
                <a:latin typeface="Microsoft YaHei"/>
                <a:ea typeface="Microsoft YaHei"/>
              </a:rPr>
              <a:t>自然性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167128"/>
            <a:ext cx="43708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文本应像正常生成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91640"/>
            <a:ext cx="4754880" cy="1417320"/>
          </a:xfrm>
          <a:prstGeom prst="roundRect">
            <a:avLst>
              <a:gd name="adj" fmla="val 7000"/>
            </a:avLst>
          </a:prstGeom>
          <a:solidFill>
            <a:srgbClr val="FFF1E5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691640"/>
            <a:ext cx="54864" cy="1417320"/>
          </a:xfrm>
          <a:prstGeom prst="rect">
            <a:avLst/>
          </a:prstGeom>
          <a:solidFill>
            <a:srgbClr val="D8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1819656"/>
            <a:ext cx="43708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8781F"/>
                </a:solidFill>
                <a:latin typeface="Microsoft YaHei"/>
                <a:ea typeface="Microsoft YaHei"/>
              </a:rPr>
              <a:t>容量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167128"/>
            <a:ext cx="43708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每个 token 能承载多少信息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94760"/>
            <a:ext cx="4754880" cy="1417320"/>
          </a:xfrm>
          <a:prstGeom prst="roundRect">
            <a:avLst>
              <a:gd name="adj" fmla="val 7000"/>
            </a:avLst>
          </a:prstGeom>
          <a:solidFill>
            <a:srgbClr val="E8F5F1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794760"/>
            <a:ext cx="54864" cy="141732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922776"/>
            <a:ext cx="43708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C8F88"/>
                </a:solidFill>
                <a:latin typeface="Microsoft YaHei"/>
                <a:ea typeface="Microsoft YaHei"/>
              </a:rPr>
              <a:t>可恢复性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270248"/>
            <a:ext cx="43708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接收端能否无误解码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794760"/>
            <a:ext cx="4754880" cy="1417320"/>
          </a:xfrm>
          <a:prstGeom prst="roundRect">
            <a:avLst>
              <a:gd name="adj" fmla="val 7000"/>
            </a:avLst>
          </a:prstGeom>
          <a:solidFill>
            <a:srgbClr val="FDEEEE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3794760"/>
            <a:ext cx="54864" cy="1417320"/>
          </a:xfrm>
          <a:prstGeom prst="rect">
            <a:avLst/>
          </a:prstGeom>
          <a:solidFill>
            <a:srgbClr val="C2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922776"/>
            <a:ext cx="43708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483B"/>
                </a:solidFill>
                <a:latin typeface="Microsoft YaHei"/>
                <a:ea typeface="Microsoft YaHei"/>
              </a:rPr>
              <a:t>可检测性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270248"/>
            <a:ext cx="43708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观察者能否区分 stego 与 cover</a:t>
            </a:r>
          </a:p>
        </p:txBody>
      </p:sp>
      <p:sp>
        <p:nvSpPr>
          <p:cNvPr id="24" name="Oval 23"/>
          <p:cNvSpPr/>
          <p:nvPr/>
        </p:nvSpPr>
        <p:spPr>
          <a:xfrm>
            <a:off x="4956048" y="2651760"/>
            <a:ext cx="2286000" cy="1280160"/>
          </a:xfrm>
          <a:prstGeom prst="ellipse">
            <a:avLst/>
          </a:prstGeom>
          <a:solidFill>
            <a:srgbClr val="EDF3F8"/>
          </a:solidFill>
          <a:ln w="10160">
            <a:solidFill>
              <a:srgbClr val="173B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4064" y="2788920"/>
            <a:ext cx="20299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73B64"/>
                </a:solidFill>
                <a:latin typeface="Microsoft YaHei"/>
                <a:ea typeface="Microsoft YaHei"/>
              </a:rPr>
              <a:t>项目聚焦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73B64"/>
                </a:solidFill>
                <a:latin typeface="Microsoft YaHei"/>
                <a:ea typeface="Microsoft YaHei"/>
              </a:rPr>
              <a:t>可靠恢复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73B64"/>
                </a:solidFill>
                <a:latin typeface="Microsoft YaHei"/>
                <a:ea typeface="Microsoft YaHei"/>
              </a:rPr>
              <a:t>+ 回放一致性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440680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D8781F"/>
                </a:solidFill>
                <a:latin typeface="Microsoft YaHei"/>
                <a:ea typeface="Microsoft YaHei"/>
              </a:rPr>
              <a:t>关键边界：逐步匹配 token 分布 ≠ 变长全文分布匹配（精确反例 TV = 1/2）。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806440"/>
            <a:ext cx="10241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C2483B"/>
                </a:solidFill>
                <a:latin typeface="Microsoft YaHei"/>
                <a:ea typeface="Microsoft YaHei"/>
              </a:rPr>
              <a:t>不宣称：通用安全证明、完全不可检测、零 KL 或跨硬件保证。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10881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70" b="0" i="0">
                <a:solidFill>
                  <a:srgbClr val="667085"/>
                </a:solidFill>
                <a:latin typeface="Microsoft YaHei"/>
                <a:ea typeface="Microsoft YaHei"/>
              </a:rPr>
              <a:t>证据边界：docs/verified_rrc_theory.md、RESEARCH_BRIEF.md。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667085"/>
                </a:solidFill>
                <a:latin typeface="Microsoft YaHei"/>
                <a:ea typeface="Microsoft YaHei"/>
              </a:rPr>
              <a:t>4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5486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45C97"/>
                </a:solidFill>
                <a:latin typeface="Microsoft YaHei"/>
                <a:ea typeface="Microsoft YaHei"/>
              </a:rPr>
              <a:t>03 技术路线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4864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73B64"/>
                </a:solidFill>
                <a:latin typeface="Microsoft YaHei"/>
                <a:ea typeface="Microsoft YaHei"/>
              </a:rPr>
              <a:t>复现、比较并扩展 SparSamp 与 RRC 两条路线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两条路线并列；Verified-RRC、Fixed-Length RRC、BDS 是对 RRC 路线的可靠性扩展。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5029200" cy="35661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54864" cy="3566160"/>
          </a:xfrm>
          <a:prstGeom prst="rect">
            <a:avLst/>
          </a:prstGeom>
          <a:solidFill>
            <a:srgbClr val="24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00784"/>
            <a:ext cx="46451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45C97"/>
                </a:solidFill>
                <a:latin typeface="Microsoft YaHei"/>
                <a:ea typeface="Microsoft YaHei"/>
              </a:rPr>
              <a:t>路线 A：SparSamp（USENIX Security 2025）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048256"/>
            <a:ext cx="4645152" cy="2944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官方 artifact 兼容复现（Zenodo 15025436）：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· Basic Test：105 tokens / 576 bits / 5.486 bit/token，精确解码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· R002 矩阵：1,193/1,200 完成；无歧义子集 846/846 精确解码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· 16/16 容量对比误差 ≤5%（最大 4.12%）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2803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8781F"/>
                </a:solidFill>
                <a:latin typeface="Microsoft YaHei"/>
                <a:ea typeface="Microsoft YaHei"/>
              </a:rPr>
              <a:t>边界：兼容复现，非严格 Torch 2.2.2 环境复现；速度仅作硬件相关描述。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572768"/>
            <a:ext cx="5029200" cy="3566160"/>
          </a:xfrm>
          <a:prstGeom prst="roundRect">
            <a:avLst>
              <a:gd name="adj" fmla="val 7000"/>
            </a:avLst>
          </a:prstGeom>
          <a:solidFill>
            <a:srgbClr val="E8F5F1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572768"/>
            <a:ext cx="54864" cy="356616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7" y="1700784"/>
            <a:ext cx="46451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C8F88"/>
                </a:solidFill>
                <a:latin typeface="Microsoft YaHei"/>
                <a:ea typeface="Microsoft YaHei"/>
              </a:rPr>
              <a:t>路线 B：Range Coding / RRC（ACL 2026）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7" y="2048256"/>
            <a:ext cx="4645152" cy="2944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独立 clean-room 复现论文 Algorithm 3/4：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· 秘密消息映射到概率区间，逐 token 旋转并收缩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· 本项目审计对象：终止正确性、固定长度、跨精度回放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482803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8781F"/>
                </a:solidFill>
                <a:latin typeface="Microsoft YaHei"/>
                <a:ea typeface="Microsoft YaHei"/>
              </a:rPr>
              <a:t>论文局部停止条件的审计结论见第 7 页；表述限定在“本项目采用的形式化”内。</a:t>
            </a:r>
          </a:p>
        </p:txBody>
      </p:sp>
      <p:sp>
        <p:nvSpPr>
          <p:cNvPr id="18" name="Chevron 17"/>
          <p:cNvSpPr/>
          <p:nvPr/>
        </p:nvSpPr>
        <p:spPr>
          <a:xfrm>
            <a:off x="5833872" y="3154680"/>
            <a:ext cx="457200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28800" y="5440680"/>
            <a:ext cx="987552" cy="283464"/>
          </a:xfrm>
          <a:prstGeom prst="roundRect">
            <a:avLst>
              <a:gd name="adj" fmla="val 50000"/>
            </a:avLst>
          </a:prstGeom>
          <a:solidFill>
            <a:srgbClr val="EDF3F8"/>
          </a:solidFill>
          <a:ln w="10160">
            <a:solidFill>
              <a:srgbClr val="EDF3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5490972"/>
            <a:ext cx="89611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45C97"/>
                </a:solidFill>
                <a:latin typeface="Microsoft YaHei"/>
                <a:ea typeface="Microsoft YaHei"/>
              </a:rPr>
              <a:t>复现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5440680"/>
            <a:ext cx="987552" cy="283464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 w="10160">
            <a:solidFill>
              <a:srgbClr val="FFF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5490972"/>
            <a:ext cx="89611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D8781F"/>
                </a:solidFill>
                <a:latin typeface="Microsoft YaHei"/>
                <a:ea typeface="Microsoft YaHei"/>
              </a:rPr>
              <a:t>比较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5440680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E8F5F1"/>
          </a:solidFill>
          <a:ln w="10160">
            <a:solidFill>
              <a:srgbClr val="E8F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5490972"/>
            <a:ext cx="1371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C8F88"/>
                </a:solidFill>
                <a:latin typeface="Microsoft YaHei"/>
                <a:ea typeface="Microsoft YaHei"/>
              </a:rPr>
              <a:t>可靠性扩展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870448"/>
            <a:ext cx="749807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C2483B"/>
                </a:solidFill>
                <a:latin typeface="Microsoft YaHei"/>
                <a:ea typeface="Microsoft YaHei"/>
              </a:rPr>
              <a:t>不宣称：将 SparSamp 与 RRC 融合为一个新算法。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10881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70" b="0" i="0">
                <a:solidFill>
                  <a:srgbClr val="667085"/>
                </a:solidFill>
                <a:latin typeface="Microsoft YaHei"/>
                <a:ea typeface="Microsoft YaHei"/>
              </a:rPr>
              <a:t>参考：SparSamp（arXiv:2503.19499）；Yan &amp; Murawaki, ACL 2026；docs/rrc.md、docs/reproducibility/R002_OFFICIAL_MATRIX.md。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667085"/>
                </a:solidFill>
                <a:latin typeface="Microsoft YaHei"/>
                <a:ea typeface="Microsoft YaHei"/>
              </a:rPr>
              <a:t>5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5486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45C97"/>
                </a:solidFill>
                <a:latin typeface="Microsoft YaHei"/>
                <a:ea typeface="Microsoft YaHei"/>
              </a:rPr>
              <a:t>04 SparSamp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4864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73B64"/>
                </a:solidFill>
                <a:latin typeface="Microsoft YaHei"/>
                <a:ea typeface="Microsoft YaHei"/>
              </a:rPr>
              <a:t>用概率分布做“带密钥的稀疏采样”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下图为简化示意；真实实现还需共享配置、离散化规则与严格回放条件。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2011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3B64"/>
                </a:solidFill>
                <a:latin typeface="Microsoft YaHei"/>
                <a:ea typeface="Microsoft YaHei"/>
              </a:rPr>
              <a:t>候选 token 概率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548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安全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066543"/>
            <a:ext cx="1649577" cy="164592"/>
          </a:xfrm>
          <a:prstGeom prst="roundRect">
            <a:avLst>
              <a:gd name="adj" fmla="val 20000"/>
            </a:avLst>
          </a:prstGeom>
          <a:solidFill>
            <a:srgbClr val="245C97"/>
          </a:solidFill>
          <a:ln w="10160">
            <a:solidFill>
              <a:srgbClr val="245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057400"/>
            <a:ext cx="411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</a:rPr>
              <a:t>82%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548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可靠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2633472"/>
            <a:ext cx="1227124" cy="164592"/>
          </a:xfrm>
          <a:prstGeom prst="roundRect">
            <a:avLst>
              <a:gd name="adj" fmla="val 20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624328"/>
            <a:ext cx="411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</a:rPr>
              <a:t>61%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91256"/>
            <a:ext cx="548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高效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3200400"/>
            <a:ext cx="804672" cy="164592"/>
          </a:xfrm>
          <a:prstGeom prst="roundRect">
            <a:avLst>
              <a:gd name="adj" fmla="val 20000"/>
            </a:avLst>
          </a:prstGeom>
          <a:solidFill>
            <a:srgbClr val="AFC6D9"/>
          </a:solidFill>
          <a:ln w="10160">
            <a:solidFill>
              <a:srgbClr val="AFC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3191256"/>
            <a:ext cx="411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58183"/>
            <a:ext cx="548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自然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3767327"/>
            <a:ext cx="502920" cy="164592"/>
          </a:xfrm>
          <a:prstGeom prst="roundRect">
            <a:avLst>
              <a:gd name="adj" fmla="val 20000"/>
            </a:avLst>
          </a:prstGeom>
          <a:solidFill>
            <a:srgbClr val="AFC6D9"/>
          </a:solidFill>
          <a:ln w="10160">
            <a:solidFill>
              <a:srgbClr val="AFC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3758183"/>
            <a:ext cx="411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</a:rPr>
              <a:t>25%</a:t>
            </a:r>
          </a:p>
        </p:txBody>
      </p:sp>
      <p:sp>
        <p:nvSpPr>
          <p:cNvPr id="21" name="Chevron 20"/>
          <p:cNvSpPr/>
          <p:nvPr/>
        </p:nvSpPr>
        <p:spPr>
          <a:xfrm>
            <a:off x="4224528" y="2926080"/>
            <a:ext cx="731520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20640" y="1691640"/>
            <a:ext cx="2103120" cy="2377440"/>
          </a:xfrm>
          <a:prstGeom prst="roundRect">
            <a:avLst>
              <a:gd name="adj" fmla="val 7000"/>
            </a:avLst>
          </a:prstGeom>
          <a:solidFill>
            <a:srgbClr val="FFF1E5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1691640"/>
            <a:ext cx="54864" cy="2377440"/>
          </a:xfrm>
          <a:prstGeom prst="rect">
            <a:avLst/>
          </a:prstGeom>
          <a:solidFill>
            <a:srgbClr val="D8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21807" y="1819656"/>
            <a:ext cx="171907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8781F"/>
                </a:solidFill>
                <a:latin typeface="Microsoft YaHei"/>
                <a:ea typeface="Microsoft YaHei"/>
              </a:rPr>
              <a:t>密钥 + 消息块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7" y="2167128"/>
            <a:ext cx="1719072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7313D"/>
                </a:solidFill>
                <a:latin typeface="Microsoft YaHei"/>
                <a:ea typeface="Microsoft YaHei"/>
              </a:rPr>
              <a:t>共享密钥生成受控偏移；消息块决定候选空间内的落点。</a:t>
            </a:r>
          </a:p>
        </p:txBody>
      </p:sp>
      <p:sp>
        <p:nvSpPr>
          <p:cNvPr id="26" name="Chevron 25"/>
          <p:cNvSpPr/>
          <p:nvPr/>
        </p:nvSpPr>
        <p:spPr>
          <a:xfrm>
            <a:off x="7360920" y="2926080"/>
            <a:ext cx="731520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0" y="1691640"/>
            <a:ext cx="3246120" cy="2377440"/>
          </a:xfrm>
          <a:prstGeom prst="roundRect">
            <a:avLst>
              <a:gd name="adj" fmla="val 7000"/>
            </a:avLst>
          </a:prstGeom>
          <a:solidFill>
            <a:srgbClr val="E8F5F1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691640"/>
            <a:ext cx="54864" cy="237744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1819656"/>
            <a:ext cx="286207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C8F88"/>
                </a:solidFill>
                <a:latin typeface="Microsoft YaHei"/>
                <a:ea typeface="Microsoft YaHei"/>
              </a:rPr>
              <a:t>稀疏采样选择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2167128"/>
            <a:ext cx="2862072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7313D"/>
                </a:solidFill>
                <a:latin typeface="Microsoft YaHei"/>
                <a:ea typeface="Microsoft YaHei"/>
              </a:rPr>
              <a:t>在保持概率结构的前提下选出 token，并使接收端能重放同一决策。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489204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EDF3F8"/>
          </a:solidFill>
          <a:ln w="10160">
            <a:solidFill>
              <a:srgbClr val="EDF3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942331"/>
            <a:ext cx="1143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45C97"/>
                </a:solidFill>
                <a:latin typeface="Microsoft YaHei"/>
                <a:ea typeface="Microsoft YaHei"/>
              </a:rPr>
              <a:t>概率分布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489204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 w="10160">
            <a:solidFill>
              <a:srgbClr val="FFF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4942331"/>
            <a:ext cx="1143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D8781F"/>
                </a:solidFill>
                <a:latin typeface="Microsoft YaHei"/>
                <a:ea typeface="Microsoft YaHei"/>
              </a:rPr>
              <a:t>受控偏移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489204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E8F5F1"/>
          </a:solidFill>
          <a:ln w="10160">
            <a:solidFill>
              <a:srgbClr val="E8F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4942331"/>
            <a:ext cx="1143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C8F88"/>
                </a:solidFill>
                <a:latin typeface="Microsoft YaHei"/>
                <a:ea typeface="Microsoft YaHei"/>
              </a:rPr>
              <a:t>稀疏决策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5577840"/>
            <a:ext cx="2011680" cy="283464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 w="10160">
            <a:solidFill>
              <a:srgbClr val="FFF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5628131"/>
            <a:ext cx="19202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D8781F"/>
                </a:solidFill>
                <a:latin typeface="Microsoft YaHei"/>
                <a:ea typeface="Microsoft YaHei"/>
              </a:rPr>
              <a:t>示意（非实验数据）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532120"/>
            <a:ext cx="10607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面试表达：SparSamp 的关键不是“强行指定词”，而是在模型原有概率分布上做可回放的受控采样。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897880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8781F"/>
                </a:solidFill>
                <a:latin typeface="Microsoft YaHei"/>
                <a:ea typeface="Microsoft YaHei"/>
              </a:rPr>
              <a:t>本项目角色：复现与对比（FH-SparSamp v1 已被负面结果拒绝，不作为推荐默认）。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473952"/>
            <a:ext cx="10881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70" b="0" i="0">
                <a:solidFill>
                  <a:srgbClr val="667085"/>
                </a:solidFill>
                <a:latin typeface="Microsoft YaHei"/>
                <a:ea typeface="Microsoft YaHei"/>
              </a:rPr>
              <a:t>概念依据：docs/fh_sparsamp.md、RESEARCH_BRIEF.md；本页示意图非实验数据。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667085"/>
                </a:solidFill>
                <a:latin typeface="Microsoft YaHei"/>
                <a:ea typeface="Microsoft YaHei"/>
              </a:rPr>
              <a:t>6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5486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45C97"/>
                </a:solidFill>
                <a:latin typeface="Microsoft YaHei"/>
                <a:ea typeface="Microsoft YaHei"/>
              </a:rPr>
              <a:t>05 RRC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4864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73B64"/>
                </a:solidFill>
                <a:latin typeface="Microsoft YaHei"/>
                <a:ea typeface="Microsoft YaHei"/>
              </a:rPr>
              <a:t>把秘密消息映射为区间，再逐 token 旋转收缩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Range Coding 在项目中简称 RRC：秘密点 + 共享偏移旋转 + 概率分割 + 区间收缩。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2880360" cy="23317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54864" cy="2331720"/>
          </a:xfrm>
          <a:prstGeom prst="rect">
            <a:avLst/>
          </a:prstGeom>
          <a:solidFill>
            <a:srgbClr val="24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682495"/>
            <a:ext cx="24963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5C97"/>
                </a:solidFill>
                <a:latin typeface="Microsoft YaHei"/>
                <a:ea typeface="Microsoft YaHei"/>
              </a:rPr>
              <a:t>初始秘密点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29967"/>
            <a:ext cx="2496312" cy="1709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消息 m 对应初始区间 [0, 2^l) 内的一点。</a:t>
            </a:r>
          </a:p>
        </p:txBody>
      </p:sp>
      <p:sp>
        <p:nvSpPr>
          <p:cNvPr id="12" name="Chevron 11"/>
          <p:cNvSpPr/>
          <p:nvPr/>
        </p:nvSpPr>
        <p:spPr>
          <a:xfrm>
            <a:off x="3913631" y="2606040"/>
            <a:ext cx="384048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2880360" cy="2331720"/>
          </a:xfrm>
          <a:prstGeom prst="roundRect">
            <a:avLst>
              <a:gd name="adj" fmla="val 7000"/>
            </a:avLst>
          </a:prstGeom>
          <a:solidFill>
            <a:srgbClr val="FFF1E5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554480"/>
            <a:ext cx="54864" cy="2331720"/>
          </a:xfrm>
          <a:prstGeom prst="rect">
            <a:avLst/>
          </a:prstGeom>
          <a:solidFill>
            <a:srgbClr val="D8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7" y="1682495"/>
            <a:ext cx="24963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8781F"/>
                </a:solidFill>
                <a:latin typeface="Microsoft YaHei"/>
                <a:ea typeface="Microsoft YaHei"/>
              </a:rPr>
              <a:t>旋转并按概率切分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7" y="2029967"/>
            <a:ext cx="2496312" cy="1709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共享偏移 o_t 旋转秘密点；模型概率决定分割比例。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662671" y="2606040"/>
            <a:ext cx="384048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1554480"/>
            <a:ext cx="2880360" cy="2331720"/>
          </a:xfrm>
          <a:prstGeom prst="roundRect">
            <a:avLst>
              <a:gd name="adj" fmla="val 7000"/>
            </a:avLst>
          </a:prstGeom>
          <a:solidFill>
            <a:srgbClr val="E8F5F1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554480"/>
            <a:ext cx="54864" cy="233172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1682495"/>
            <a:ext cx="24963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C8F88"/>
                </a:solidFill>
                <a:latin typeface="Microsoft YaHei"/>
                <a:ea typeface="Microsoft YaHei"/>
              </a:rPr>
              <a:t>选中子区间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029967"/>
            <a:ext cx="2496312" cy="1709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输出 token 后保留含秘密点的子区间，继续下一步。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8448" y="4572000"/>
            <a:ext cx="2148840" cy="146304"/>
          </a:xfrm>
          <a:prstGeom prst="rect">
            <a:avLst/>
          </a:prstGeom>
          <a:solidFill>
            <a:srgbClr val="AF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72768" y="4572000"/>
            <a:ext cx="966978" cy="146304"/>
          </a:xfrm>
          <a:prstGeom prst="rect">
            <a:avLst/>
          </a:prstGeom>
          <a:solidFill>
            <a:srgbClr val="24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8448" y="4892040"/>
            <a:ext cx="2286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73B64"/>
                </a:solidFill>
                <a:latin typeface="Microsoft YaHei"/>
                <a:ea typeface="Microsoft YaHei"/>
              </a:rPr>
              <a:t>I⁻¹ = [0, 2ˡ)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4572000"/>
            <a:ext cx="2148840" cy="146304"/>
          </a:xfrm>
          <a:prstGeom prst="rect">
            <a:avLst/>
          </a:prstGeom>
          <a:solidFill>
            <a:srgbClr val="AF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92040" y="4572000"/>
            <a:ext cx="709117" cy="146304"/>
          </a:xfrm>
          <a:prstGeom prst="rect">
            <a:avLst/>
          </a:prstGeom>
          <a:solidFill>
            <a:srgbClr val="D8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892040"/>
            <a:ext cx="2286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73B64"/>
                </a:solidFill>
                <a:latin typeface="Microsoft YaHei"/>
                <a:ea typeface="Microsoft YaHei"/>
              </a:rPr>
              <a:t>dᵗ = rotate(dᵗ⁻¹)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4572000"/>
            <a:ext cx="2148840" cy="146304"/>
          </a:xfrm>
          <a:prstGeom prst="rect">
            <a:avLst/>
          </a:prstGeom>
          <a:solidFill>
            <a:srgbClr val="AF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4572000"/>
            <a:ext cx="429768" cy="146304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4892040"/>
            <a:ext cx="2286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73B64"/>
                </a:solidFill>
                <a:latin typeface="Microsoft YaHei"/>
                <a:ea typeface="Microsoft YaHei"/>
              </a:rPr>
              <a:t>Iᵗ ⊂ Iᵗ⁻¹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035040"/>
            <a:ext cx="10058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接收端按相同 token 前缀、偏移和分割规则反向重放，尝试恢复 m。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73952"/>
            <a:ext cx="10881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70" b="0" i="0">
                <a:solidFill>
                  <a:srgbClr val="667085"/>
                </a:solidFill>
                <a:latin typeface="Microsoft YaHei"/>
                <a:ea typeface="Microsoft YaHei"/>
              </a:rPr>
              <a:t>依据：docs/rrc.md、docs/verified_rrc_theory.md；示意不按具体模型概率绘制。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667085"/>
                </a:solidFill>
                <a:latin typeface="Microsoft YaHei"/>
                <a:ea typeface="Microsoft YaHei"/>
              </a:rPr>
              <a:t>7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5486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45C97"/>
                </a:solidFill>
                <a:latin typeface="Microsoft YaHei"/>
                <a:ea typeface="Microsoft YaHei"/>
              </a:rPr>
              <a:t>06 关键发现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4864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73B64"/>
                </a:solidFill>
                <a:latin typeface="Microsoft YaHei"/>
                <a:ea typeface="Microsoft YaHei"/>
              </a:rPr>
              <a:t>局部“接近中点”并不总能保证正确恢复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在本项目采用的 Algorithm 3/4 形式化下，跨越旋转切点时，局部停止条件不是精确恢复的充分条件。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3291840" cy="17830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72768"/>
            <a:ext cx="54864" cy="1783080"/>
          </a:xfrm>
          <a:prstGeom prst="rect">
            <a:avLst/>
          </a:prstGeom>
          <a:solidFill>
            <a:srgbClr val="24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00784"/>
            <a:ext cx="2907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5C97"/>
                </a:solidFill>
                <a:latin typeface="Microsoft YaHei"/>
                <a:ea typeface="Microsoft YaHei"/>
              </a:rPr>
              <a:t>t=0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48256"/>
            <a:ext cx="2907792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7313D"/>
                </a:solidFill>
                <a:latin typeface="Microsoft YaHei"/>
                <a:ea typeface="Microsoft YaHei"/>
              </a:rPr>
              <a:t>I⁻¹=[0,8)，m=3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7313D"/>
                </a:solidFill>
                <a:latin typeface="Microsoft YaHei"/>
                <a:ea typeface="Microsoft YaHei"/>
              </a:rPr>
              <a:t>选中 I⁰=[3,5)</a:t>
            </a:r>
          </a:p>
        </p:txBody>
      </p:sp>
      <p:sp>
        <p:nvSpPr>
          <p:cNvPr id="12" name="Chevron 11"/>
          <p:cNvSpPr/>
          <p:nvPr/>
        </p:nvSpPr>
        <p:spPr>
          <a:xfrm>
            <a:off x="4160520" y="2286000"/>
            <a:ext cx="347472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572768"/>
            <a:ext cx="3291840" cy="1783080"/>
          </a:xfrm>
          <a:prstGeom prst="roundRect">
            <a:avLst>
              <a:gd name="adj" fmla="val 7000"/>
            </a:avLst>
          </a:prstGeom>
          <a:solidFill>
            <a:srgbClr val="FFF1E5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572768"/>
            <a:ext cx="54864" cy="1783080"/>
          </a:xfrm>
          <a:prstGeom prst="rect">
            <a:avLst/>
          </a:prstGeom>
          <a:solidFill>
            <a:srgbClr val="D8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00784"/>
            <a:ext cx="2907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8781F"/>
                </a:solidFill>
                <a:latin typeface="Microsoft YaHei"/>
                <a:ea typeface="Microsoft YaHei"/>
              </a:rPr>
              <a:t>t=1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048256"/>
            <a:ext cx="2907792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7313D"/>
                </a:solidFill>
                <a:latin typeface="Microsoft YaHei"/>
                <a:ea typeface="Microsoft YaHei"/>
              </a:rPr>
              <a:t>偏移 o₁=1/2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7313D"/>
                </a:solidFill>
                <a:latin typeface="Microsoft YaHei"/>
                <a:ea typeface="Microsoft YaHei"/>
              </a:rPr>
              <a:t>选中 I¹=[3,9/2)</a:t>
            </a:r>
          </a:p>
        </p:txBody>
      </p:sp>
      <p:sp>
        <p:nvSpPr>
          <p:cNvPr id="17" name="Chevron 16"/>
          <p:cNvSpPr/>
          <p:nvPr/>
        </p:nvSpPr>
        <p:spPr>
          <a:xfrm>
            <a:off x="7955279" y="2286000"/>
            <a:ext cx="347472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572768"/>
            <a:ext cx="3291840" cy="1783080"/>
          </a:xfrm>
          <a:prstGeom prst="roundRect">
            <a:avLst>
              <a:gd name="adj" fmla="val 7000"/>
            </a:avLst>
          </a:prstGeom>
          <a:solidFill>
            <a:srgbClr val="FDEEEE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1572768"/>
            <a:ext cx="54864" cy="1783080"/>
          </a:xfrm>
          <a:prstGeom prst="rect">
            <a:avLst/>
          </a:prstGeom>
          <a:solidFill>
            <a:srgbClr val="C2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1700784"/>
            <a:ext cx="2907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483B"/>
                </a:solidFill>
                <a:latin typeface="Microsoft YaHei"/>
                <a:ea typeface="Microsoft YaHei"/>
              </a:rPr>
              <a:t>反向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048256"/>
            <a:ext cx="2907792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7313D"/>
                </a:solidFill>
                <a:latin typeface="Microsoft YaHei"/>
                <a:ea typeface="Microsoft YaHei"/>
              </a:rPr>
              <a:t>mid(I¹)−d¹=−1/4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7313D"/>
                </a:solidFill>
                <a:latin typeface="Microsoft YaHei"/>
                <a:ea typeface="Microsoft YaHei"/>
              </a:rPr>
              <a:t>round(19/4)=5 ≠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611880"/>
            <a:ext cx="20116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3B64"/>
                </a:solidFill>
                <a:latin typeface="Microsoft YaHei"/>
                <a:ea typeface="Microsoft YaHei"/>
              </a:rPr>
              <a:t>区间演化（示意）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4343400"/>
            <a:ext cx="9052560" cy="27432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34440" y="4261104"/>
            <a:ext cx="27432" cy="182880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4498848"/>
            <a:ext cx="1828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7992" y="4261104"/>
            <a:ext cx="27432" cy="182880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498848"/>
            <a:ext cx="1828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4261104"/>
            <a:ext cx="27432" cy="182880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33288" y="4498848"/>
            <a:ext cx="1828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Microsoft YaHei"/>
                <a:ea typeface="Microsoft YaHei"/>
              </a:rPr>
              <a:t>4.5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4261104"/>
            <a:ext cx="27432" cy="182880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0176" y="4498848"/>
            <a:ext cx="1828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59368" y="4261104"/>
            <a:ext cx="27432" cy="182880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86216" y="4498848"/>
            <a:ext cx="1828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7992" y="4133087"/>
            <a:ext cx="2487168" cy="128016"/>
          </a:xfrm>
          <a:prstGeom prst="rect">
            <a:avLst/>
          </a:prstGeom>
          <a:solidFill>
            <a:srgbClr val="24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07992" y="4553712"/>
            <a:ext cx="1545336" cy="128016"/>
          </a:xfrm>
          <a:prstGeom prst="rect">
            <a:avLst/>
          </a:prstGeom>
          <a:solidFill>
            <a:srgbClr val="D8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3913632"/>
            <a:ext cx="45720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45C97"/>
                </a:solidFill>
                <a:latin typeface="Microsoft YaHei"/>
                <a:ea typeface="Microsoft YaHei"/>
              </a:rPr>
              <a:t>I⁰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773168"/>
            <a:ext cx="45720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8781F"/>
                </a:solidFill>
                <a:latin typeface="Microsoft YaHei"/>
                <a:ea typeface="Microsoft YaHei"/>
              </a:rPr>
              <a:t>I¹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20240" y="5742432"/>
            <a:ext cx="8339327" cy="365760"/>
          </a:xfrm>
          <a:prstGeom prst="roundRect">
            <a:avLst>
              <a:gd name="adj" fmla="val 15000"/>
            </a:avLst>
          </a:prstGeom>
          <a:solidFill>
            <a:srgbClr val="FDEEEE"/>
          </a:solidFill>
          <a:ln w="10160">
            <a:solidFill>
              <a:srgbClr val="F3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5833872"/>
            <a:ext cx="806500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2483B"/>
                </a:solidFill>
                <a:latin typeface="Microsoft YaHei"/>
                <a:ea typeface="Microsoft YaHei"/>
              </a:rPr>
              <a:t>结论：不能只检查局部距离；必须真正执行接收端的逆过程验证。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73952"/>
            <a:ext cx="10881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70" b="0" i="0">
                <a:solidFill>
                  <a:srgbClr val="667085"/>
                </a:solidFill>
                <a:latin typeface="Microsoft YaHei"/>
                <a:ea typeface="Microsoft YaHei"/>
              </a:rPr>
              <a:t>精确有理数反例：docs/verified_rrc_theory.md 第 4 节；可用 scripts/verify_rrc_theory.py 重现。失败区域测度 1/1024。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667085"/>
                </a:solidFill>
                <a:latin typeface="Microsoft YaHei"/>
                <a:ea typeface="Microsoft YaHei"/>
              </a:rPr>
              <a:t>8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5486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45C97"/>
                </a:solidFill>
                <a:latin typeface="Microsoft YaHei"/>
                <a:ea typeface="Microsoft YaHei"/>
              </a:rPr>
              <a:t>07 方法改进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4864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73B64"/>
                </a:solidFill>
                <a:latin typeface="Microsoft YaHei"/>
                <a:ea typeface="Microsoft YaHei"/>
              </a:rPr>
              <a:t>Verified-RRC：确认能恢复才停止；Fixed-Length + HMAC 缓解长度泄露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R012 与 R020/R021 的测试结果如下；均带 Mock 或小样本范围限定。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63040"/>
            <a:ext cx="2377440" cy="1234440"/>
          </a:xfrm>
          <a:prstGeom prst="roundRect">
            <a:avLst>
              <a:gd name="adj" fmla="val 7000"/>
            </a:avLst>
          </a:prstGeom>
          <a:solidFill>
            <a:srgbClr val="FFF1E5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463040"/>
            <a:ext cx="54864" cy="1234440"/>
          </a:xfrm>
          <a:prstGeom prst="rect">
            <a:avLst/>
          </a:prstGeom>
          <a:solidFill>
            <a:srgbClr val="D8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91056"/>
            <a:ext cx="19933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8781F"/>
                </a:solidFill>
                <a:latin typeface="Microsoft YaHei"/>
                <a:ea typeface="Microsoft YaHei"/>
              </a:rPr>
              <a:t>候选停止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1993392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7313D"/>
                </a:solidFill>
                <a:latin typeface="Microsoft YaHei"/>
                <a:ea typeface="Microsoft YaHei"/>
              </a:rPr>
              <a:t>局部条件满足</a:t>
            </a:r>
          </a:p>
        </p:txBody>
      </p:sp>
      <p:sp>
        <p:nvSpPr>
          <p:cNvPr id="12" name="Chevron 11"/>
          <p:cNvSpPr/>
          <p:nvPr/>
        </p:nvSpPr>
        <p:spPr>
          <a:xfrm>
            <a:off x="3090672" y="1965960"/>
            <a:ext cx="256032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144" y="1463040"/>
            <a:ext cx="2377440" cy="1234440"/>
          </a:xfrm>
          <a:prstGeom prst="roundRect">
            <a:avLst>
              <a:gd name="adj" fmla="val 7000"/>
            </a:avLst>
          </a:prstGeom>
          <a:solidFill>
            <a:srgbClr val="E8F5F1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8144" y="1463040"/>
            <a:ext cx="54864" cy="123444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591056"/>
            <a:ext cx="19933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C8F88"/>
                </a:solidFill>
                <a:latin typeface="Microsoft YaHei"/>
                <a:ea typeface="Microsoft YaHei"/>
              </a:rPr>
              <a:t>逆重放验证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938528"/>
            <a:ext cx="1993392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7313D"/>
                </a:solidFill>
                <a:latin typeface="Microsoft YaHei"/>
                <a:ea typeface="Microsoft YaHei"/>
              </a:rPr>
              <a:t>完整模拟接收端</a:t>
            </a:r>
          </a:p>
        </p:txBody>
      </p:sp>
      <p:sp>
        <p:nvSpPr>
          <p:cNvPr id="17" name="Chevron 16"/>
          <p:cNvSpPr/>
          <p:nvPr/>
        </p:nvSpPr>
        <p:spPr>
          <a:xfrm>
            <a:off x="5907024" y="1965960"/>
            <a:ext cx="256032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4496" y="1463040"/>
            <a:ext cx="2377440" cy="12344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1463040"/>
            <a:ext cx="54864" cy="1234440"/>
          </a:xfrm>
          <a:prstGeom prst="rect">
            <a:avLst/>
          </a:prstGeom>
          <a:solidFill>
            <a:srgbClr val="24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591056"/>
            <a:ext cx="19933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45C97"/>
                </a:solidFill>
                <a:latin typeface="Microsoft YaHei"/>
                <a:ea typeface="Microsoft YaHei"/>
              </a:rPr>
              <a:t>HMAC 认证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1938528"/>
            <a:ext cx="1993392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7313D"/>
                </a:solidFill>
                <a:latin typeface="Microsoft YaHei"/>
                <a:ea typeface="Microsoft YaHei"/>
              </a:rPr>
              <a:t>验证消息前缀</a:t>
            </a:r>
          </a:p>
        </p:txBody>
      </p:sp>
      <p:sp>
        <p:nvSpPr>
          <p:cNvPr id="22" name="Chevron 21"/>
          <p:cNvSpPr/>
          <p:nvPr/>
        </p:nvSpPr>
        <p:spPr>
          <a:xfrm>
            <a:off x="8723376" y="1965960"/>
            <a:ext cx="256032" cy="219456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70848" y="1463040"/>
            <a:ext cx="2377440" cy="12344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70848" y="1463040"/>
            <a:ext cx="54864" cy="1234440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1591056"/>
            <a:ext cx="19933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73B64"/>
                </a:solidFill>
                <a:latin typeface="Microsoft YaHei"/>
                <a:ea typeface="Microsoft YaHei"/>
              </a:rPr>
              <a:t>固定长度填充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1938528"/>
            <a:ext cx="1993392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7313D"/>
                </a:solidFill>
                <a:latin typeface="Microsoft YaHei"/>
                <a:ea typeface="Microsoft YaHei"/>
              </a:rPr>
              <a:t>采样至公开 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3063240"/>
            <a:ext cx="3063240" cy="1600200"/>
          </a:xfrm>
          <a:prstGeom prst="roundRect">
            <a:avLst>
              <a:gd name="adj" fmla="val 7000"/>
            </a:avLst>
          </a:prstGeom>
          <a:solidFill>
            <a:srgbClr val="FDEEEE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" y="3063240"/>
            <a:ext cx="54864" cy="1600200"/>
          </a:xfrm>
          <a:prstGeom prst="rect">
            <a:avLst/>
          </a:prstGeom>
          <a:solidFill>
            <a:srgbClr val="C2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191256"/>
            <a:ext cx="26791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483B"/>
                </a:solidFill>
                <a:latin typeface="Microsoft YaHei"/>
                <a:ea typeface="Microsoft YaHei"/>
              </a:rPr>
              <a:t>原局部停止规则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538728"/>
            <a:ext cx="267919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Mock 精确恢复率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87%–96%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62856" y="3063240"/>
            <a:ext cx="3063240" cy="1600200"/>
          </a:xfrm>
          <a:prstGeom prst="roundRect">
            <a:avLst>
              <a:gd name="adj" fmla="val 7000"/>
            </a:avLst>
          </a:prstGeom>
          <a:solidFill>
            <a:srgbClr val="E8F5F1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62856" y="3063240"/>
            <a:ext cx="54864" cy="160020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64024" y="3191256"/>
            <a:ext cx="26791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C8F88"/>
                </a:solidFill>
                <a:latin typeface="Microsoft YaHei"/>
                <a:ea typeface="Microsoft YaHei"/>
              </a:rPr>
              <a:t>Verified-RRC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4024" y="3538728"/>
            <a:ext cx="267919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500/500 精确恢复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平均额外 +0.04–0.15 token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3063240"/>
            <a:ext cx="3063240" cy="1600200"/>
          </a:xfrm>
          <a:prstGeom prst="roundRect">
            <a:avLst>
              <a:gd name="adj" fmla="val 7000"/>
            </a:avLst>
          </a:prstGeom>
          <a:solidFill>
            <a:srgbClr val="FFF1E5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66760" y="3063240"/>
            <a:ext cx="54864" cy="1600200"/>
          </a:xfrm>
          <a:prstGeom prst="rect">
            <a:avLst/>
          </a:prstGeom>
          <a:solidFill>
            <a:srgbClr val="D8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67928" y="3191256"/>
            <a:ext cx="26791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8781F"/>
                </a:solidFill>
                <a:latin typeface="Microsoft YaHei"/>
                <a:ea typeface="Microsoft YaHei"/>
              </a:rPr>
              <a:t>代价边界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7928" y="3538728"/>
            <a:ext cx="267919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单样本最多 +2 token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7313D"/>
                </a:solidFill>
                <a:latin typeface="Microsoft YaHei"/>
                <a:ea typeface="Microsoft YaHei"/>
              </a:rPr>
              <a:t>≠ 任意模型必然终止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480060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73B64"/>
                </a:solidFill>
                <a:latin typeface="Microsoft YaHei"/>
                <a:ea typeface="Microsoft YaHei"/>
              </a:rPr>
              <a:t>R020：Mock 400/400 恢复、0 错 key 接受；Qwen smoke N=224 完成 4/4（小样本）。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257800"/>
            <a:ext cx="10424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73B64"/>
                </a:solidFill>
                <a:latin typeface="Microsoft YaHei"/>
                <a:ea typeface="Microsoft YaHei"/>
              </a:rPr>
              <a:t>认证帧：F = m ‖ HMAC(K_auth, domain ‖ l ‖ context ‖ m)[:a]，默认 a=128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71500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8781F"/>
                </a:solidFill>
                <a:latin typeface="Microsoft YaHei"/>
                <a:ea typeface="Microsoft YaHei"/>
              </a:rPr>
              <a:t>边界：非任意模型必然有限终止；4 对 matched-cover 样本未见稳定熵偏移（1.110 vs 1.124 bit/token），不构成不可检测结论。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73952"/>
            <a:ext cx="10881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70" b="0" i="0">
                <a:solidFill>
                  <a:srgbClr val="667085"/>
                </a:solidFill>
                <a:latin typeface="Microsoft YaHei"/>
                <a:ea typeface="Microsoft YaHei"/>
              </a:rPr>
              <a:t>真实结果：refine-logs/R012_VERIFIED_RRC_RESULTS.md、R020_FIXED_LENGTH_RRC_V1.md、R021_FIXED_LENGTH_MATCHED_COVER.md。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667085"/>
                </a:solidFill>
                <a:latin typeface="Microsoft YaHei"/>
                <a:ea typeface="Microsoft YaHei"/>
              </a:rPr>
              <a:t>9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5486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45C97"/>
                </a:solidFill>
                <a:latin typeface="Microsoft YaHei"/>
                <a:ea typeface="Microsoft YaHei"/>
              </a:rPr>
              <a:t>08 工程可靠性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4864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73B64"/>
                </a:solidFill>
                <a:latin typeface="Microsoft YaHei"/>
                <a:ea typeface="Microsoft YaHei"/>
              </a:rPr>
              <a:t>BDS：跨 FP16 / BF16 时，只记录真正不稳定的决策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微小 logit 差异可能改变一个 token，并在自回归生成中持续放大。</a:t>
            </a:r>
          </a:p>
        </p:txBody>
      </p:sp>
      <p:pic>
        <p:nvPicPr>
          <p:cNvPr id="8" name="Picture 7" descr="figure_0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5212080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480560" y="5486400"/>
            <a:ext cx="2011680" cy="283464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 w="10160">
            <a:solidFill>
              <a:srgbClr val="FFF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5536692"/>
            <a:ext cx="19202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D8781F"/>
                </a:solidFill>
                <a:latin typeface="Microsoft YaHei"/>
                <a:ea typeface="Microsoft YaHei"/>
              </a:rPr>
              <a:t>示意（非实验数据）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349240" cy="1417320"/>
          </a:xfrm>
          <a:prstGeom prst="roundRect">
            <a:avLst>
              <a:gd name="adj" fmla="val 7000"/>
            </a:avLst>
          </a:prstGeom>
          <a:solidFill>
            <a:srgbClr val="FDEEEE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54864" cy="1417320"/>
          </a:xfrm>
          <a:prstGeom prst="rect">
            <a:avLst/>
          </a:prstGeom>
          <a:solidFill>
            <a:srgbClr val="C2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591056"/>
            <a:ext cx="49651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483B"/>
                </a:solidFill>
                <a:latin typeface="Microsoft YaHei"/>
                <a:ea typeface="Microsoft YaHei"/>
              </a:rPr>
              <a:t>问题（R044）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38528"/>
            <a:ext cx="49651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FP16 → BF16 未校正仅 10/60 精确；平均修正率 2.16% [1.80, 2.53]。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017520"/>
            <a:ext cx="5349240" cy="1417320"/>
          </a:xfrm>
          <a:prstGeom prst="roundRect">
            <a:avLst>
              <a:gd name="adj" fmla="val 7000"/>
            </a:avLst>
          </a:prstGeom>
          <a:solidFill>
            <a:srgbClr val="E8F5F1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017520"/>
            <a:ext cx="54864" cy="141732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145536"/>
            <a:ext cx="49651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C8F88"/>
                </a:solidFill>
                <a:latin typeface="Microsoft YaHei"/>
                <a:ea typeface="Microsoft YaHei"/>
              </a:rPr>
              <a:t>机制（BDS）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493008"/>
            <a:ext cx="49651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公开整数概率合同 + 有限枚举可行决策集；稳定步省略，不稳定步记录稀疏修正。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572000"/>
            <a:ext cx="534924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572000"/>
            <a:ext cx="54864" cy="1417320"/>
          </a:xfrm>
          <a:prstGeom prst="rect">
            <a:avLst/>
          </a:prstGeom>
          <a:solidFill>
            <a:srgbClr val="24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700016"/>
            <a:ext cx="49651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5C97"/>
                </a:solidFill>
                <a:latin typeface="Microsoft YaHei"/>
                <a:ea typeface="Microsoft YaHei"/>
              </a:rPr>
              <a:t>独立确认（R059）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047488"/>
            <a:ext cx="49651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独立 seed 40/40 精确回放、0 false-safe；证书负载/完整轨迹 ≈54.6%。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43600"/>
            <a:ext cx="10881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8781F"/>
                </a:solidFill>
                <a:latin typeface="Microsoft YaHei"/>
                <a:ea typeface="Microsoft YaHei"/>
              </a:rPr>
              <a:t>边界：Qwen2.5-1.5B-Instruct、RTX 3060 Laptop、指定软件栈；不等于跨硬件绝对可复现。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10881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70" b="0" i="0">
                <a:solidFill>
                  <a:srgbClr val="667085"/>
                </a:solidFill>
                <a:latin typeface="Microsoft YaHei"/>
                <a:ea typeface="Microsoft YaHei"/>
              </a:rPr>
              <a:t>真实结果：docs/reproducibility/R058_BOUNDED_DECISION_SET_RESULTS.md、R059_INDEPENDENT_BOUNDED_DECISION_RESULTS.md；左侧为概念图/工作论文 Figure 1。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473952"/>
            <a:ext cx="38404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667085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667085"/>
                </a:solidFill>
                <a:latin typeface="Microsoft YaHei"/>
                <a:ea typeface="Microsoft YaHei"/>
              </a:rPr>
              <a:t>10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7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5486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45C97"/>
                </a:solidFill>
                <a:latin typeface="Microsoft YaHei"/>
                <a:ea typeface="Microsoft YaHei"/>
              </a:rPr>
              <a:t>09 结果与总结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4864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73B64"/>
                </a:solidFill>
                <a:latin typeface="Microsoft YaHei"/>
                <a:ea typeface="Microsoft YaHei"/>
              </a:rPr>
              <a:t>先保证“能正确回来”，再讨论“能否稳定重放”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阶段性 working paper / 项目阶段成果；不代表已发表、已投稿或通用安全结论。</a:t>
            </a:r>
          </a:p>
        </p:txBody>
      </p:sp>
      <p:pic>
        <p:nvPicPr>
          <p:cNvPr id="8" name="Picture 7" descr="fig2_main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9232"/>
            <a:ext cx="5669280" cy="40104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06440"/>
            <a:ext cx="56692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</a:rPr>
              <a:t>真实数据（R044）：校正后 60/60，未校正 10/60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481328"/>
            <a:ext cx="4983480" cy="1097280"/>
          </a:xfrm>
          <a:prstGeom prst="roundRect">
            <a:avLst>
              <a:gd name="adj" fmla="val 7000"/>
            </a:avLst>
          </a:prstGeom>
          <a:solidFill>
            <a:srgbClr val="E8F5F1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481328"/>
            <a:ext cx="54864" cy="109728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609344"/>
            <a:ext cx="45994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C8F88"/>
                </a:solidFill>
                <a:latin typeface="Microsoft YaHei"/>
                <a:ea typeface="Microsoft YaHei"/>
              </a:rPr>
              <a:t>结果 1：恢复可靠性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1956816"/>
            <a:ext cx="4599432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RRC 停止审计 + Verified-RRC：Mock 500/500。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724912"/>
            <a:ext cx="4983480" cy="10972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2724912"/>
            <a:ext cx="54864" cy="1097280"/>
          </a:xfrm>
          <a:prstGeom prst="rect">
            <a:avLst/>
          </a:prstGeom>
          <a:solidFill>
            <a:srgbClr val="24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852928"/>
            <a:ext cx="45994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5C97"/>
                </a:solidFill>
                <a:latin typeface="Microsoft YaHei"/>
                <a:ea typeface="Microsoft YaHei"/>
              </a:rPr>
              <a:t>结果 2：跨精度回放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200400"/>
            <a:ext cx="4599432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校正后 60/60 vs 未校正 10/60；SPRC 1,148 B = 完整轨迹的 24.76%（R051）。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968496"/>
            <a:ext cx="4983480" cy="10972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0160">
            <a:solidFill>
              <a:srgbClr val="D7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3968496"/>
            <a:ext cx="54864" cy="1097280"/>
          </a:xfrm>
          <a:prstGeom prst="rect">
            <a:avLst/>
          </a:prstGeom>
          <a:solidFill>
            <a:srgbClr val="24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4096511"/>
            <a:ext cx="45994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5C97"/>
                </a:solidFill>
                <a:latin typeface="Microsoft YaHei"/>
                <a:ea typeface="Microsoft YaHei"/>
              </a:rPr>
              <a:t>结果 3：BDS 独立确认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4443983"/>
            <a:ext cx="4599432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7313D"/>
                </a:solidFill>
                <a:latin typeface="Microsoft YaHei"/>
                <a:ea typeface="Microsoft YaHei"/>
              </a:rPr>
              <a:t>独立 seed 40/40、0 false-safe（R059）。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138928"/>
            <a:ext cx="4983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D8781F"/>
                </a:solidFill>
                <a:latin typeface="Microsoft YaHei"/>
                <a:ea typeface="Microsoft YaHei"/>
              </a:rPr>
              <a:t>局限：单模型单 GPU；无真人盲评（R048 未收集）；无跨硬件验证。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468112"/>
            <a:ext cx="4983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73B64"/>
                </a:solidFill>
                <a:latin typeface="Microsoft YaHei"/>
                <a:ea typeface="Microsoft YaHei"/>
              </a:rPr>
              <a:t>未来：扩大模型/硬件矩阵；固定长度失败率区间；整数频数合同；盲评与检测实验。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6126480"/>
            <a:ext cx="102412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C2483B"/>
                </a:solidFill>
                <a:latin typeface="Microsoft YaHei"/>
                <a:ea typeface="Microsoft YaHei"/>
              </a:rPr>
              <a:t>不宣称：通用安全、完全不可检测、跨硬件保证或论文已发表。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10881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70" b="0" i="0">
                <a:solidFill>
                  <a:srgbClr val="667085"/>
                </a:solidFill>
                <a:latin typeface="Microsoft YaHei"/>
                <a:ea typeface="Microsoft YaHei"/>
              </a:rPr>
              <a:t>真实图表：deliverables/assets/fig2_main_scale.png（R044，来源 figures/source_data）；结论范围见 RESEARCH_BRIEF.md。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大语言模型生成式文本隐写的可靠编码与跨精度回放研究</dc:title>
  <dc:subject>科研面试 / 保研面试汇报</dc:subject>
  <dc:creator>项目答辩材料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